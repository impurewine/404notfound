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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今天展示的是 404NOTFOUND 的 UX 界面原型答辩可编辑稿，我负责组件、交互规范和设计交接。接下来沿用户路径介绍页面与状态，再说明最新复核结果、交付范围和现场演示预案。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的设计任务包括用户场景与操作流程、原型主稿、说明书对应章节和答辩材料，本轮继续采用已确认的组件方案。今天交付十二页可编辑稿、高清截图、可点击组件演示包及操作脚本，按约八分钟组织。正式页面装配与业务接口联调仍由团队协作完成，组件演示使用合成数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先把页面放回用户目标中看。想倾诉的用户可以先给心情命名，再把自己确认的内容带进聊天草稿；想查资料的用户需要看到摘要和对应来源，而不是只有一句结论。想留下内容的用户则先选片段、核对范围，再确认保存并主动打开历史。我们用这些路径检查入口、反馈和恢复操作是否连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这是当前正式首页认证表单的实际运行局部，不是成功登录的截图。今天把弹窗改为原生模态对话框，检查了初始焦点、键盘操作、Escape 关闭和关闭后的焦点归还。密码按 Unicode 码点做边界反馈，保留原始输入，不用字符截断掩盖超限。右侧的 API 未连接反馈保持访客身份，不能把本地校验通过写成认证成功。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页承担入口分发，同时要让用户读懂最近记录分区的状态。左侧是确认没有记录的空态，提供开始聊天的方向；右侧是读取失败，明确告诉用户失败不代表没有历史，并提供重试。两者使用不同文案和操作，避免把服务问题误讲成用户没有保存过内容。这一页展示的是独立组件入口中的固定示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聊天既要支持发送，也要考虑用户想退出或网络没有明确结果时怎么办。结束确认现在把焦点放在继续留在这里，按 Escape 会保留草稿，只有明确选择结束才清空当前页的演示消息和草稿。超时则单独提示结果待确认，保留提交快照，不自动重发。这些按钮演示的是本地状态切换，不代表已经执行了服务端取消或模型请求。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信息查询的重点是让用户能够核查，而不是只看到一段看似确定的回答。组件中每条摘要绑定来源编号，点击后可以定位并展开对应来源。发布时间未知时直接写未知，获取时间没有发生时也保持未抓取。时效标签只表达时间限制，不能代替事实核验；这页采用固定示例，不能作为真实检索成功的证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情绪命名卡让用户选择贴近当下的词语，也允许补充描述。带入聊天要由用户主动点击，补充描述还需要单独选择，进入草稿后不会自动发送或保存。训练演示提供开始、暂停、继续、退出和完成的明确状态，重新开始回到第一步。这里的训练按点击推进，不把界面状态当作计时训练或专业判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动保存的操作顺序是先选片段，再预览范围，最后确认。截图放大了确认控件：许可默认不勾选，返回修改后再进入也需要重新确认，而不是沿用上一份范围的许可。今天给标题为空白或超过八十码点的情况补了明确错误提示，用户不必只看一个禁用按钮猜原因。保存许可与 AI 处理许可分开，这里只把确认的片段加入页面内存中的示例历史。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人历史列表先展示标题、类型和时间，用户主动打开后才看正文。今天修正了筛选无匹配时的主操作，让用户一键清除筛选回到全部记录；真正没有记录时才引导去选择保存内容。清除记录先弹出范围确认，并把安全默认操作设为保留记录。取消不会改变正文，确认后的本地移除也不能描述为已经清除服务器或备份数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分别引用不同执行者的报告，不合算总通过率。测试岗在十月二十七日对主线三四d七五一c复核，后端一百二十项、前端适配器六项和双入口构建通过，但跨层探针只通过十三项中的十一项，历史正文不可读和内部模型授权绕过仍未通过。测试岗没有独立复跑 UX 昨日的一百一十三组检查。今日数据岗在 PGlite 隔离环境完成四十九项迁移、隔离和恢复检查，但恢复守卫不等于正式删除日志重放，真实 Wikipedia 请求失败且未取得来源，发布仍阻塞。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已实现的个人成果是可运行组件和本地交互，以及这份文字与备注可编辑的 PPT。聊天、来源和保存历史仍是合成或内存数据演示，刷新后重置，不能当作正式业务闭环已经通过。演示用本地包，启动失败时切换备用截图，实网来源失败就如实展示失败状态。正式数据库验证、未关闭项复核和本人约八分钟试讲仍待完成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1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abel Layout"/>
          <p:cNvSpPr txBox="1"/>
          <p:nvPr/>
        </p:nvSpPr>
        <p:spPr>
          <a:xfrm>
            <a:off x="906018" y="1739900"/>
            <a:ext cx="24416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UX DESIGN / 图表与交互</a:t>
            </a:r>
          </a:p>
        </p:txBody>
      </p:sp>
      <p:sp>
        <p:nvSpPr>
          <p:cNvPr id="3" name="cover-title Placeholder"/>
          <p:cNvSpPr>
            <a:spLocks noGrp="1"/>
          </p:cNvSpPr>
          <p:nvPr>
            <p:ph type="title"/>
          </p:nvPr>
        </p:nvSpPr>
        <p:spPr>
          <a:xfrm>
            <a:off x="914400" y="2419350"/>
            <a:ext cx="103632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/>
            </a:lvl1pPr>
          </a:lstStyle>
          <a:p>
            <a:pPr algn="l"/>
            <a:r>
              <a:rPr lang="en-US" sz="39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cover-subtitle Placeholder"/>
          <p:cNvSpPr>
            <a:spLocks noGrp="1"/>
          </p:cNvSpPr>
          <p:nvPr>
            <p:ph type="subTitle" idx="1"/>
          </p:nvPr>
        </p:nvSpPr>
        <p:spPr>
          <a:xfrm>
            <a:off x="914400" y="371475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subtitle</a:t>
            </a:r>
            <a:endParaRPr lang="en-US"/>
          </a:p>
        </p:txBody>
      </p:sp>
      <p:sp>
        <p:nvSpPr>
          <p:cNvPr id="5" name="author Placeholder"/>
          <p:cNvSpPr>
            <a:spLocks noGrp="1"/>
          </p:cNvSpPr>
          <p:nvPr>
            <p:ph type="body" idx="2"/>
          </p:nvPr>
        </p:nvSpPr>
        <p:spPr>
          <a:xfrm>
            <a:off x="914400" y="5391150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6" name="date Placeholder"/>
          <p:cNvSpPr>
            <a:spLocks noGrp="1"/>
          </p:cNvSpPr>
          <p:nvPr>
            <p:ph type="dt" idx="3"/>
          </p:nvPr>
        </p:nvSpPr>
        <p:spPr>
          <a:xfrm>
            <a:off x="8839200" y="53911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950"/>
            </a:lvl1pPr>
          </a:lstStyle>
          <a:p>
            <a:pPr algn="l"/>
            <a:fld id="{49575BA5-1F95-4E84-8E4F-15B337679054}" type="datetimeFigureOut"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809456734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2 总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view-tag Layout"/>
          <p:cNvSpPr txBox="1"/>
          <p:nvPr/>
        </p:nvSpPr>
        <p:spPr>
          <a:xfrm>
            <a:off x="906018" y="1739900"/>
            <a:ext cx="22713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总览 · 看清范围与关系</a:t>
            </a:r>
          </a:p>
        </p:txBody>
      </p:sp>
      <p:sp>
        <p:nvSpPr>
          <p:cNvPr id="3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overview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594D69DF-D570-4F38-B2B2-911903AE25B5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641651175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3 局部放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tail-tag Layout"/>
          <p:cNvSpPr txBox="1"/>
          <p:nvPr/>
        </p:nvSpPr>
        <p:spPr>
          <a:xfrm>
            <a:off x="906018" y="1739900"/>
            <a:ext cx="249343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局部放大 · 对应原图编号</a:t>
            </a:r>
          </a:p>
        </p:txBody>
      </p:sp>
      <p:sp>
        <p:nvSpPr>
          <p:cNvPr id="3" name="detail-note-tag Layout"/>
          <p:cNvSpPr txBox="1"/>
          <p:nvPr/>
        </p:nvSpPr>
        <p:spPr>
          <a:xfrm>
            <a:off x="7916418" y="1739900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关键条件与出口</a:t>
            </a:r>
          </a:p>
        </p:txBody>
      </p:sp>
      <p:sp>
        <p:nvSpPr>
          <p:cNvPr id="4" name="detail-divider Layout"/>
          <p:cNvSpPr/>
          <p:nvPr/>
        </p:nvSpPr>
        <p:spPr>
          <a:xfrm>
            <a:off x="7391400" y="17526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E6E1E5"/>
            </a:solidFill>
          </a:ln>
        </p:spPr>
      </p:sp>
      <p:sp>
        <p:nvSpPr>
          <p:cNvPr id="5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6" name="detail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59436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7" name="detail-notes Placeholder"/>
          <p:cNvSpPr>
            <a:spLocks noGrp="1"/>
          </p:cNvSpPr>
          <p:nvPr>
            <p:ph type="body" idx="2"/>
          </p:nvPr>
        </p:nvSpPr>
        <p:spPr>
          <a:xfrm>
            <a:off x="7924800" y="2400300"/>
            <a:ext cx="33528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E8E407E2-2EF9-4D73-BE26-3BC44B096788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67157542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4 双图对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tag Layout"/>
          <p:cNvSpPr txBox="1"/>
          <p:nvPr/>
        </p:nvSpPr>
        <p:spPr>
          <a:xfrm>
            <a:off x="906018" y="1739900"/>
            <a:ext cx="13601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现状 / 流程 A</a:t>
            </a:r>
          </a:p>
        </p:txBody>
      </p:sp>
      <p:sp>
        <p:nvSpPr>
          <p:cNvPr id="3" name="right-tag Layout"/>
          <p:cNvSpPr txBox="1"/>
          <p:nvPr/>
        </p:nvSpPr>
        <p:spPr>
          <a:xfrm>
            <a:off x="6544818" y="1739900"/>
            <a:ext cx="13601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目标 / 流程 B</a:t>
            </a:r>
          </a:p>
        </p:txBody>
      </p:sp>
      <p:sp>
        <p:nvSpPr>
          <p:cNvPr id="4" name="comparison-divider Layout"/>
          <p:cNvSpPr/>
          <p:nvPr/>
        </p:nvSpPr>
        <p:spPr>
          <a:xfrm>
            <a:off x="6096000" y="17526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E6E1E5"/>
            </a:solidFill>
          </a:ln>
        </p:spPr>
      </p:sp>
      <p:sp>
        <p:nvSpPr>
          <p:cNvPr id="5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6" name="left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7" name="right-content Placeholder"/>
          <p:cNvSpPr>
            <a:spLocks noGrp="1"/>
          </p:cNvSpPr>
          <p:nvPr>
            <p:ph type="obj" idx="2"/>
          </p:nvPr>
        </p:nvSpPr>
        <p:spPr>
          <a:xfrm>
            <a:off x="65532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FA26CCAD-C396-44EA-942D-15F77F3BF169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075520882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5 状态与规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-tag Layout"/>
          <p:cNvSpPr txBox="1"/>
          <p:nvPr/>
        </p:nvSpPr>
        <p:spPr>
          <a:xfrm>
            <a:off x="906018" y="1739900"/>
            <a:ext cx="230463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状态 / 差异 / 视觉规范</a:t>
            </a:r>
          </a:p>
        </p:txBody>
      </p:sp>
      <p:sp>
        <p:nvSpPr>
          <p:cNvPr id="3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table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7BE045D5-393B-4AB1-9023-536A4E1A159A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963005227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404NOTFOUND 柔和粉·简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-accent Master"/>
          <p:cNvSpPr/>
          <p:nvPr/>
        </p:nvSpPr>
        <p:spPr>
          <a:xfrm>
            <a:off x="914400" y="12573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38100">
            <a:solidFill>
              <a:srgbClr val="C86B8C"/>
            </a:solidFill>
          </a:ln>
        </p:spPr>
      </p:sp>
      <p:sp>
        <p:nvSpPr>
          <p:cNvPr id="3" name="master-brand Master"/>
          <p:cNvSpPr txBox="1"/>
          <p:nvPr/>
        </p:nvSpPr>
        <p:spPr>
          <a:xfrm>
            <a:off x="908304" y="6438900"/>
            <a:ext cx="21945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404NOTFOUND · UX 图示设计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2.xml" />
    <Relationship Id="rId2" Type="http://schemas.openxmlformats.org/officeDocument/2006/relationships/notesSlide" Target="../notesSlides/notesSlide1.xml"/>
</Relationships>
</file>

<file path=ppt/slides/_rels/slide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3.xml" />
    <Relationship Id="rId2" Type="http://schemas.openxmlformats.org/officeDocument/2006/relationships/notesSlide" Target="../notesSlides/notesSlide2.xml"/>
</Relationships>
</file>

<file path=ppt/slides/_rels/slide3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3.xml" />
  <Relationship Id="rId2" Type="http://schemas.openxmlformats.org/officeDocument/2006/relationships/notesSlide" Target="../notesSlides/notesSlide3.xml"/>
</Relationships>
</file>

<file path=ppt/slides/_rels/slide4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8f75862a8d7feb01.png" />  <Relationship Id="rId3" Type="http://schemas.openxmlformats.org/officeDocument/2006/relationships/notesSlide" Target="../notesSlides/notesSlide4.xml"/>
</Relationships>
</file>

<file path=ppt/slides/_rels/slide5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5.xml" />
<Relationship Id="rId2" Type="http://schemas.openxmlformats.org/officeDocument/2006/relationships/image" Target="../media/image_a978ced3b46e00ba.png" /><Relationship Id="rId3" Type="http://schemas.openxmlformats.org/officeDocument/2006/relationships/image" Target="../media/image_bcc5f108e363e8e3.png" />  <Relationship Id="rId4" Type="http://schemas.openxmlformats.org/officeDocument/2006/relationships/notesSlide" Target="../notesSlides/notesSlide5.xml"/>
</Relationships>
</file>

<file path=ppt/slides/_rels/slide6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f9a8df44adff7d8e.png" />  <Relationship Id="rId3" Type="http://schemas.openxmlformats.org/officeDocument/2006/relationships/notesSlide" Target="../notesSlides/notesSlide6.xml"/>
</Relationships>
</file>

<file path=ppt/slides/_rels/slide7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fb22eeba59a5235a.png" />  <Relationship Id="rId3" Type="http://schemas.openxmlformats.org/officeDocument/2006/relationships/notesSlide" Target="../notesSlides/notesSlide7.xml"/>
</Relationships>
</file>

<file path=ppt/slides/_rels/slide8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5.xml" />
<Relationship Id="rId2" Type="http://schemas.openxmlformats.org/officeDocument/2006/relationships/image" Target="../media/image_e072054799ae02be.png" /><Relationship Id="rId3" Type="http://schemas.openxmlformats.org/officeDocument/2006/relationships/image" Target="../media/image_a8dc35d8baf26583.png" />  <Relationship Id="rId4" Type="http://schemas.openxmlformats.org/officeDocument/2006/relationships/notesSlide" Target="../notesSlides/notesSlide8.xml"/>
</Relationships>
</file>

<file path=ppt/slides/_rels/slide9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428cab0d790b2342.png" />  <Relationship Id="rId3" Type="http://schemas.openxmlformats.org/officeDocument/2006/relationships/notesSlide" Target="../notesSlides/notesSlide9.xml"/>
</Relationships>
</file>

<file path=ppt/slides/_rels/slide10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5.xml" />
<Relationship Id="rId2" Type="http://schemas.openxmlformats.org/officeDocument/2006/relationships/image" Target="../media/image_4a431b70e7ca3d8f.png" /><Relationship Id="rId3" Type="http://schemas.openxmlformats.org/officeDocument/2006/relationships/image" Target="../media/image_bb97a3327fdb9de2.png" />  <Relationship Id="rId4" Type="http://schemas.openxmlformats.org/officeDocument/2006/relationships/notesSlide" Target="../notesSlides/notesSlide10.xml"/>
</Relationships>
</file>

<file path=ppt/slides/_rels/slide1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6.xml" />
    <Relationship Id="rId2" Type="http://schemas.openxmlformats.org/officeDocument/2006/relationships/notesSlide" Target="../notesSlides/notesSlide11.xml"/>
</Relationships>
</file>

<file path=ppt/slides/_rels/slide1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3.xml" />
  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 Placeholder Carrier"/>
          <p:cNvSpPr/>
          <p:nvPr>
            <p:ph type="title"/>
          </p:nvPr>
        </p:nvSpPr>
        <p:spPr>
          <a:xfrm>
            <a:off x="914400" y="2419350"/>
            <a:ext cx="1036320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140970" rIns="0" bIns="0" anchor="t" anchorCtr="0">
            <a:noAutofit/>
          </a:bodyPr>
          <a:lstStyle/>
          <a:p>
            <a:pPr algn="l"/>
            <a:r>
              <a:rPr lang="en-US" sz="39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404NOTFOUND</a:t>
            </a:r>
          </a:p>
        </p:txBody>
      </p:sp>
      <p:sp>
        <p:nvSpPr>
          <p:cNvPr id="7" name="cover-subtitle Placeholder Carrier"/>
          <p:cNvSpPr/>
          <p:nvPr>
            <p:ph type="subTitle" idx="1"/>
          </p:nvPr>
        </p:nvSpPr>
        <p:spPr>
          <a:xfrm>
            <a:off x="914400" y="371475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274320" rIns="0" bIns="0" anchor="t" anchorCtr="0">
            <a:noAutofit/>
          </a:bodyPr>
          <a:lstStyle/>
          <a:p>
            <a:pPr algn="l"/>
            <a:r>
              <a:rPr lang="zh-CN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UX 界面原型答辩 · 可编辑稿 v0.2</a:t>
            </a:r>
          </a:p>
        </p:txBody>
      </p:sp>
      <p:sp>
        <p:nvSpPr>
          <p:cNvPr id="8" name="author Placeholder Carrier"/>
          <p:cNvSpPr/>
          <p:nvPr>
            <p:ph type="body" idx="2"/>
          </p:nvPr>
        </p:nvSpPr>
        <p:spPr>
          <a:xfrm>
            <a:off x="914400" y="5391150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99060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郭昱祺 · UX / 产品设计</a:t>
            </a:r>
          </a:p>
        </p:txBody>
      </p:sp>
      <p:sp>
        <p:nvSpPr>
          <p:cNvPr id="9" name="date Placeholder Carrier"/>
          <p:cNvSpPr/>
          <p:nvPr>
            <p:ph type="dt" idx="3"/>
          </p:nvPr>
        </p:nvSpPr>
        <p:spPr>
          <a:xfrm>
            <a:off x="8839200" y="53911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99060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2026-10-28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个人范围与当前交付层次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6862953" cy="889381"/>
            <a:chOff x="899160" y="2393950"/>
            <a:chExt cx="6862953" cy="889381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02308" y="24320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设计交付：场景、流程、原型与说明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4594" y="2901950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将用户目标落实到页面、按钮和可恢复的操作状态。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6075426" cy="889413"/>
            <a:chOff x="899160" y="3384550"/>
            <a:chExt cx="6075426" cy="889413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1702308" y="3422618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本轮：可编辑稿与演示素材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1704594" y="3892582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附截图、组件演示及脚本；约 8 分钟讲解。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125462" cy="889381"/>
            <a:chOff x="899160" y="4375150"/>
            <a:chExt cx="7125462" cy="889381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308" y="44132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团队协作：正式页面装配与业务联调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4594" y="4883150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独立展示入口使用合成数据，业务接入仍需前端整合。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18"/>
            <a:ext cx="6593491" cy="337376"/>
            <a:chOff x="905637" y="5708618"/>
            <a:chExt cx="6593491" cy="337376"/>
          </a:xfrm>
        </p:grpSpPr>
        <p:sp>
          <p:nvSpPr>
            <p:cNvPr id="18" name="TextBox 18"/>
            <p:cNvSpPr/>
            <p:nvPr/>
          </p:nvSpPr>
          <p:spPr>
            <a:xfrm>
              <a:off x="905637" y="5708618"/>
              <a:ext cx="659349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个人负责组件与规范；合成数据演示不代表生产验收。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从用户目标到操作路径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7650480" cy="889381"/>
            <a:chOff x="899160" y="2393950"/>
            <a:chExt cx="7650480" cy="889381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02308" y="2432050"/>
              <a:ext cx="49377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倾诉与自助：选择心情 → 聊天草稿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4594" y="290195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带入内容需主动确认；进入聊天后仍可编辑、发送或结束。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7650480" cy="889381"/>
            <a:chOff x="899160" y="3384550"/>
            <a:chExt cx="7650480" cy="889381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2308" y="3422650"/>
              <a:ext cx="55839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信息查询：输入问题 → 摘要与逐条来源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4594" y="389255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展开来源核对时间；空结果与读取失败使用不同恢复路径。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912989" cy="889381"/>
            <a:chOff x="899160" y="4375150"/>
            <a:chExt cx="7912989" cy="889381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308" y="4413250"/>
              <a:ext cx="60410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主动保存：选择 → 预览 → 确认 → 本人历史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4594" y="4883150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只有明确确认的片段进入示例历史，打开详情后再决定清除。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50"/>
            <a:ext cx="7890104" cy="337376"/>
            <a:chOff x="905637" y="5708650"/>
            <a:chExt cx="7890104" cy="337376"/>
          </a:xfrm>
        </p:grpSpPr>
        <p:sp>
          <p:nvSpPr>
            <p:cNvPr id="18" name="TextBox 18"/>
            <p:cNvSpPr txBox="1"/>
            <p:nvPr/>
          </p:nvSpPr>
          <p:spPr>
            <a:xfrm>
              <a:off x="905637" y="5708650"/>
              <a:ext cx="78901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这是操作路径总览；路径与组件展示代码对应，不表示已完成真实后端闭环。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登录：规则可见，焦点可进可退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pSp>
        <p:nvGrpSpPr>
          <p:cNvPr id="5" name="evidence-login-feedback"/>
          <p:cNvGrpSpPr/>
          <p:nvPr/>
        </p:nvGrpSpPr>
        <p:grpSpPr>
          <a:xfrm>
            <a:off x="914400" y="2526090"/>
            <a:ext cx="5943600" cy="2720219"/>
            <a:chOff x="914400" y="2526090"/>
            <a:chExt cx="5943600" cy="2720219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526090"/>
              <a:ext cx="5943600" cy="2720219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609088" cy="2336292"/>
            <a:chOff x="7912608" y="2489200"/>
            <a:chExt cx="2609088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关闭后回到入口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密码超限明确提示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断连保持未登录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6650457" cy="337376"/>
            <a:chOff x="905637" y="5708650"/>
            <a:chExt cx="6650457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665045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正式首页运行局部 · mock 配置：API 未连接，不模拟登录成功。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主页：空记录与读取失败分开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pSp>
        <p:nvGrpSpPr>
          <p:cNvPr id="5" name="evidence-home-empty"/>
          <p:cNvGrpSpPr/>
          <p:nvPr/>
        </p:nvGrpSpPr>
        <p:grpSpPr>
          <a:xfrm>
            <a:off x="914400" y="2435432"/>
            <a:ext cx="4724400" cy="2120487"/>
            <a:chOff x="914400" y="2435432"/>
            <a:chExt cx="4724400" cy="2120487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435432"/>
              <a:ext cx="4724400" cy="2120487"/>
            </a:xfrm>
            <a:prstGeom prst="rect">
              <a:avLst/>
            </a:prstGeom>
          </p:spPr>
        </p:pic>
      </p:grpSp>
      <p:grpSp>
        <p:nvGrpSpPr>
          <p:cNvPr id="7" name="evidence-home-failure"/>
          <p:cNvGrpSpPr/>
          <p:nvPr/>
        </p:nvGrpSpPr>
        <p:grpSpPr>
          <a:xfrm>
            <a:off x="6553200" y="2651407"/>
            <a:ext cx="4724400" cy="1688536"/>
            <a:chOff x="6553200" y="2651407"/>
            <a:chExt cx="4724400" cy="1688536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0" y="2651407"/>
              <a:ext cx="4724400" cy="1688536"/>
            </a:xfrm>
            <a:prstGeom prst="rect">
              <a:avLst/>
            </a:prstGeom>
          </p:spPr>
        </p:pic>
      </p:grpSp>
      <p:grpSp>
        <p:nvGrpSpPr>
          <p:cNvPr id="10" name="left-conclusion"/>
          <p:cNvGrpSpPr/>
          <p:nvPr/>
        </p:nvGrpSpPr>
        <p:grpSpPr>
          <a:xfrm>
            <a:off x="902970" y="4883150"/>
            <a:ext cx="2446020" cy="440055"/>
            <a:chOff x="902970" y="4883150"/>
            <a:chExt cx="244602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902970" y="488315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空记录：引导开始</a:t>
              </a:r>
            </a:p>
          </p:txBody>
        </p:sp>
      </p:grpSp>
      <p:grpSp>
        <p:nvGrpSpPr>
          <p:cNvPr id="13" name="right-conclusion"/>
          <p:cNvGrpSpPr/>
          <p:nvPr/>
        </p:nvGrpSpPr>
        <p:grpSpPr>
          <a:xfrm>
            <a:off x="6541770" y="4883150"/>
            <a:ext cx="2748915" cy="440055"/>
            <a:chOff x="6541770" y="4883150"/>
            <a:chExt cx="2748915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6541770" y="48831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读取失败：提供重试</a:t>
              </a:r>
            </a:p>
          </p:txBody>
        </p:sp>
      </p:grpSp>
      <p:grpSp>
        <p:nvGrpSpPr>
          <p:cNvPr id="15" name="evidence-caption"/>
          <p:cNvGrpSpPr/>
          <p:nvPr/>
        </p:nvGrpSpPr>
        <p:grpSpPr>
          <a:xfrm>
            <a:off x="905637" y="5708650"/>
            <a:ext cx="6982267" cy="337376"/>
            <a:chOff x="905637" y="5708650"/>
            <a:chExt cx="6982267" cy="337376"/>
          </a:xfrm>
        </p:grpSpPr>
        <p:sp>
          <p:nvSpPr>
            <p:cNvPr id="14" name="TextBox 14"/>
            <p:cNvSpPr txBox="1"/>
            <p:nvPr/>
          </p:nvSpPr>
          <p:spPr>
            <a:xfrm>
              <a:off x="905637" y="5708650"/>
              <a:ext cx="69822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HP-E / HP-F · 组件固定示例；记录分区状态不阻断其余功能入口。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聊天：结束可取消，超时可核实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pSp>
        <p:nvGrpSpPr>
          <p:cNvPr id="5" name="evidence-chat-end"/>
          <p:cNvGrpSpPr/>
          <p:nvPr/>
        </p:nvGrpSpPr>
        <p:grpSpPr>
          <a:xfrm>
            <a:off x="914400" y="2661818"/>
            <a:ext cx="5943600" cy="2448763"/>
            <a:chOff x="914400" y="2661818"/>
            <a:chExt cx="5943600" cy="2448763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661818"/>
              <a:ext cx="5943600" cy="2448763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609088" cy="2336292"/>
            <a:chOff x="7912608" y="2489200"/>
            <a:chExt cx="2609088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取消保留当前草稿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确认清空当前页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超时不自动重发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7633437" cy="337376"/>
            <a:chOff x="905637" y="5708650"/>
            <a:chExt cx="7633437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763343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CH-N 结束确认局部 · 安全默认焦点为“继续留在这里”；本页仅模拟会话。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来源展示：让依据和未知都可见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pSp>
        <p:nvGrpSpPr>
          <p:cNvPr id="5" name="evidence-source-unknown"/>
          <p:cNvGrpSpPr/>
          <p:nvPr/>
        </p:nvGrpSpPr>
        <p:grpSpPr>
          <a:xfrm>
            <a:off x="914400" y="2840684"/>
            <a:ext cx="5943600" cy="2091032"/>
            <a:chOff x="914400" y="2840684"/>
            <a:chExt cx="5943600" cy="2091032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840684"/>
              <a:ext cx="5943600" cy="2091032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609088" cy="2336292"/>
            <a:chOff x="7912608" y="2489200"/>
            <a:chExt cx="2609088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摘要绑定来源编号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未知时间保持未知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标签不等于可信度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6452550" cy="337376"/>
            <a:chOff x="905637" y="5708650"/>
            <a:chExt cx="6452550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64525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SR-N 来源详情局部 · 固定引用关系，未实时抓取或核验原文。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情绪与训练：由用户控制下一步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pSp>
        <p:nvGrpSpPr>
          <p:cNvPr id="5" name="evidence-emotion-carry"/>
          <p:cNvGrpSpPr/>
          <p:nvPr/>
        </p:nvGrpSpPr>
        <p:grpSpPr>
          <a:xfrm>
            <a:off x="1033061" y="2400300"/>
            <a:ext cx="4487078" cy="2190750"/>
            <a:chOff x="1033061" y="2400300"/>
            <a:chExt cx="4487078" cy="21907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3061" y="2400300"/>
              <a:ext cx="4487078" cy="2190750"/>
            </a:xfrm>
            <a:prstGeom prst="rect">
              <a:avLst/>
            </a:prstGeom>
          </p:spPr>
        </p:pic>
      </p:grpSp>
      <p:grpSp>
        <p:nvGrpSpPr>
          <p:cNvPr id="7" name="evidence-training-start"/>
          <p:cNvGrpSpPr/>
          <p:nvPr/>
        </p:nvGrpSpPr>
        <p:grpSpPr>
          <a:xfrm>
            <a:off x="6553200" y="2748770"/>
            <a:ext cx="4724400" cy="1493810"/>
            <a:chOff x="6553200" y="2748770"/>
            <a:chExt cx="4724400" cy="149381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0" y="2748770"/>
              <a:ext cx="4724400" cy="1493810"/>
            </a:xfrm>
            <a:prstGeom prst="rect">
              <a:avLst/>
            </a:prstGeom>
          </p:spPr>
        </p:pic>
      </p:grpSp>
      <p:grpSp>
        <p:nvGrpSpPr>
          <p:cNvPr id="10" name="left-conclusion"/>
          <p:cNvGrpSpPr/>
          <p:nvPr/>
        </p:nvGrpSpPr>
        <p:grpSpPr>
          <a:xfrm>
            <a:off x="902970" y="4883150"/>
            <a:ext cx="3051810" cy="440055"/>
            <a:chOff x="902970" y="4883150"/>
            <a:chExt cx="305181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902970" y="48831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选定内容带入聊天草稿</a:t>
              </a:r>
            </a:p>
          </p:txBody>
        </p:sp>
      </p:grpSp>
      <p:grpSp>
        <p:nvGrpSpPr>
          <p:cNvPr id="13" name="right-conclusion"/>
          <p:cNvGrpSpPr/>
          <p:nvPr/>
        </p:nvGrpSpPr>
        <p:grpSpPr>
          <a:xfrm>
            <a:off x="6541770" y="4883150"/>
            <a:ext cx="3354705" cy="440055"/>
            <a:chOff x="6541770" y="4883150"/>
            <a:chExt cx="3354705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6541770" y="4883150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开始、暂停、退出与完成</a:t>
              </a:r>
            </a:p>
          </p:txBody>
        </p:sp>
      </p:grpSp>
      <p:grpSp>
        <p:nvGrpSpPr>
          <p:cNvPr id="15" name="evidence-caption"/>
          <p:cNvGrpSpPr/>
          <p:nvPr/>
        </p:nvGrpSpPr>
        <p:grpSpPr>
          <a:xfrm>
            <a:off x="905637" y="5708650"/>
            <a:ext cx="8198322" cy="337376"/>
            <a:chOff x="905637" y="5708650"/>
            <a:chExt cx="8198322" cy="337376"/>
          </a:xfrm>
        </p:grpSpPr>
        <p:sp>
          <p:nvSpPr>
            <p:cNvPr id="14" name="TextBox 14"/>
            <p:cNvSpPr txBox="1"/>
            <p:nvPr/>
          </p:nvSpPr>
          <p:spPr>
            <a:xfrm>
              <a:off x="905637" y="5708650"/>
              <a:ext cx="81983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EC-N / TR-N 局部 · 当前页临时内容；训练按点击推进，无计时、音频或模型。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主动保存：每次范围都要再确认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pSp>
        <p:nvGrpSpPr>
          <p:cNvPr id="5" name="evidence-save-consent"/>
          <p:cNvGrpSpPr/>
          <p:nvPr/>
        </p:nvGrpSpPr>
        <p:grpSpPr>
          <a:xfrm>
            <a:off x="914400" y="2625787"/>
            <a:ext cx="5943600" cy="2520826"/>
            <a:chOff x="914400" y="2625787"/>
            <a:chExt cx="5943600" cy="2520826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625787"/>
              <a:ext cx="5943600" cy="2520826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780995" cy="2336292"/>
            <a:chOff x="7912608" y="2489200"/>
            <a:chExt cx="2780995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默认不勾选许可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只保存确认片段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7809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保存与 AI 许可分开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7147189" cy="337376"/>
            <a:chOff x="905637" y="5708650"/>
            <a:chExt cx="7147189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714718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SV-N 确认控件局部 · 页面内存演示；完整范围截图随交付资料附上。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本人历史：可返回，也可保留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pSp>
        <p:nvGrpSpPr>
          <p:cNvPr id="5" name="evidence-history-filter"/>
          <p:cNvGrpSpPr/>
          <p:nvPr/>
        </p:nvGrpSpPr>
        <p:grpSpPr>
          <a:xfrm>
            <a:off x="914400" y="2413000"/>
            <a:ext cx="4724400" cy="2165350"/>
            <a:chOff x="914400" y="2413000"/>
            <a:chExt cx="4724400" cy="21653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413000"/>
              <a:ext cx="4724400" cy="2165350"/>
            </a:xfrm>
            <a:prstGeom prst="rect">
              <a:avLst/>
            </a:prstGeom>
          </p:spPr>
        </p:pic>
      </p:grpSp>
      <p:grpSp>
        <p:nvGrpSpPr>
          <p:cNvPr id="7" name="evidence-record-keep"/>
          <p:cNvGrpSpPr/>
          <p:nvPr/>
        </p:nvGrpSpPr>
        <p:grpSpPr>
          <a:xfrm>
            <a:off x="6553200" y="2978241"/>
            <a:ext cx="4724400" cy="1034869"/>
            <a:chOff x="6553200" y="2978241"/>
            <a:chExt cx="4724400" cy="1034869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0" y="2978241"/>
              <a:ext cx="4724400" cy="1034869"/>
            </a:xfrm>
            <a:prstGeom prst="rect">
              <a:avLst/>
            </a:prstGeom>
          </p:spPr>
        </p:pic>
      </p:grpSp>
      <p:grpSp>
        <p:nvGrpSpPr>
          <p:cNvPr id="10" name="left-conclusion"/>
          <p:cNvGrpSpPr/>
          <p:nvPr/>
        </p:nvGrpSpPr>
        <p:grpSpPr>
          <a:xfrm>
            <a:off x="902970" y="4883150"/>
            <a:ext cx="3051810" cy="440055"/>
            <a:chOff x="902970" y="4883150"/>
            <a:chExt cx="305181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902970" y="48831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无匹配：一键清除筛选</a:t>
              </a:r>
            </a:p>
          </p:txBody>
        </p:sp>
      </p:grpSp>
      <p:grpSp>
        <p:nvGrpSpPr>
          <p:cNvPr id="13" name="right-conclusion"/>
          <p:cNvGrpSpPr/>
          <p:nvPr/>
        </p:nvGrpSpPr>
        <p:grpSpPr>
          <a:xfrm>
            <a:off x="6541770" y="4883150"/>
            <a:ext cx="3051810" cy="440055"/>
            <a:chOff x="6541770" y="4883150"/>
            <a:chExt cx="3051810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6541770" y="48831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清除前：默认保留记录</a:t>
              </a:r>
            </a:p>
          </p:txBody>
        </p:sp>
      </p:grpSp>
      <p:grpSp>
        <p:nvGrpSpPr>
          <p:cNvPr id="15" name="evidence-caption"/>
          <p:cNvGrpSpPr/>
          <p:nvPr/>
        </p:nvGrpSpPr>
        <p:grpSpPr>
          <a:xfrm>
            <a:off x="905637" y="5708650"/>
            <a:ext cx="7735230" cy="337376"/>
            <a:chOff x="905637" y="5708650"/>
            <a:chExt cx="7735230" cy="337376"/>
          </a:xfrm>
        </p:grpSpPr>
        <p:sp>
          <p:nvSpPr>
            <p:cNvPr id="14" name="TextBox 14"/>
            <p:cNvSpPr txBox="1"/>
            <p:nvPr/>
          </p:nvSpPr>
          <p:spPr>
            <a:xfrm>
              <a:off x="905637" y="5708650"/>
              <a:ext cx="773523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HS-N / RD-N 局部 · 列表只显示元数据；示例清除不代表删除服务器数据。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最新复核：通过项与未通过项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7650480" cy="889413"/>
            <a:chOff x="899160" y="2393950"/>
            <a:chExt cx="7650480" cy="889413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1702308" y="2432018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复核：后端 120／120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1704594" y="2901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10 月 27 日 @34d751c；API 6／6，双入口构建通过。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7387971" cy="889413"/>
            <a:chOff x="899160" y="3384550"/>
            <a:chExt cx="7387971" cy="889413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1702308" y="3422618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未通过：正文／模型授权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1704594" y="3892582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跨层探针 11／13；正式保存／历史闭环仍未通过。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742396" cy="889413"/>
            <a:chOff x="899160" y="4375150"/>
            <a:chExt cx="7742396" cy="889413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1702308" y="4413218"/>
              <a:ext cx="55645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今日数据：隔离验证 49／49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1704594" y="4883182"/>
              <a:ext cx="69369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PGlite 恢复守卫已自测；真实来源请求失败，未验收。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18"/>
            <a:ext cx="7461790" cy="337376"/>
            <a:chOff x="905637" y="5708618"/>
            <a:chExt cx="7461790" cy="337376"/>
          </a:xfrm>
        </p:grpSpPr>
        <p:sp>
          <p:nvSpPr>
            <p:cNvPr id="18" name="TextBox 18"/>
            <p:cNvSpPr/>
            <p:nvPr/>
          </p:nvSpPr>
          <p:spPr>
            <a:xfrm>
              <a:off x="905637" y="5708618"/>
              <a:ext cx="74617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不同基线分别报告；UX 昨日 113 组未获独立复跑，发布仍阻塞。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交付边界与现场演示预案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6600444" cy="889413"/>
            <a:chOff x="899160" y="2393950"/>
            <a:chExt cx="6600444" cy="889413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1702308" y="2432018"/>
              <a:ext cx="528466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已实现：组件演示与本地交互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1704594" y="2901982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文字可编辑；附高清截图、演示包及操作脚本。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8438007" cy="889413"/>
            <a:chOff x="899160" y="3384550"/>
            <a:chExt cx="8438007" cy="889413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1702308" y="34226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原型：聊天、来源与保存／历史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1704594" y="3892582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采用合成／内存数据；刷新重置，未连接真实业务服务。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689818" cy="889413"/>
            <a:chOff x="899160" y="4375150"/>
            <a:chExt cx="7689818" cy="889413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1702308" y="4413218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未通过：业务闭环与发布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1704594" y="4883182"/>
              <a:ext cx="68843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断网切换截图；真实来源、正式数据库与本人试讲待完成。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18"/>
            <a:ext cx="8236077" cy="337376"/>
            <a:chOff x="905637" y="5708618"/>
            <a:chExt cx="8236077" cy="337376"/>
          </a:xfrm>
        </p:grpSpPr>
        <p:sp>
          <p:nvSpPr>
            <p:cNvPr id="18" name="TextBox 18"/>
            <p:cNvSpPr/>
            <p:nvPr/>
          </p:nvSpPr>
          <p:spPr>
            <a:xfrm>
              <a:off x="905637" y="5708618"/>
              <a:ext cx="823607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Day 6 · 2026-10-28 · 已实现／原型／未通过分别说明；发布结论仍为阻塞。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12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2026-10-22T05:21:33Z</dcterms:created>
  <dcterms:modified xsi:type="dcterms:W3CDTF">2026-10-22T05:21:33Z</dcterms:modified>
  <cp:category/>
  <cp:contentStatus/>
</cp:coreProperties>
</file>