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12192000" cy="6858000"/>
  <p:notesSz cx="6858000" cy="9144000"/>
  <p:defaultTextStyle>
    <a:defPPr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104" d="100"/>
          <a:sy n="104" d="100"/>
        </p:scale>
        <p:origin x="96" y="192"/>
      </p:cViewPr>
      <p:guideLst>
        <p:guide orient="horz" pos="2160"/>
        <p:guide pos="286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大家好，我是李泉毅，庄剀涵协助数据库问答。我们汇报日常烦恼陪伴与减压项目的系统和数据库设计，覆盖六模块十七项需求；当前成果为设计与演示原型，运行验证将在后续实施。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看功能范围。我们按职责将十七项需求归为六组：账号组包含注册登录和私密主页；陪伴组包含交流、情绪命名卡和平行宇宙排练；记录组包含日历、物件和寄存；减压组包含训练、发泄、文字销毁与编曲弹珠机；信息组负责查询、来源和不确定性；基础组负责模式切换、会话、多入口以及安全隐私。需求编号用于跨文档追踪，这一功能分类不等同于技术架构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目标架构采用模块化单体，先交付Web，Electron先验证原生能力，微信按适配或模拟状态展示。客户端使用React和Vite，负责状态、交互与资源清理；同源Express接口配合共享Zod结构，集中处理任务、记录、授权和领域规则。基础设施使用PostgreSQL与pg，模型通过LangChain适配AIClient，检索采用固定供应商；数据库位于私网，密钥只在服务端。文字销毁是独立端侧视图，正文仅在私有内存中，不进入网络、模型或数据库链路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HTTP接口统一以零九号规范为准，共三十二个唯一方法路径。开始生成时提交Agent任务，受理后按原请求标识轮询，界面分别呈现完成、失败和取消。主动保存调用记录创建接口，提交请求标识、类型、载荷和保存许可，并校验有效登录。正文上限四千个Unicode码点，新密码为十二到一百二十八个码点；写请求检查CSRF令牌与Origin，服务端仍独立校验权限和可信入口。写超时只能显示待确认，以原请求标识和相同载荷核实，不能先显示成功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权限控制贯穿接入、应用服务、仓储和外部适配边界。业务操作同时核对账号、入口、对象版本和用途；保存、模型处理、检索处理三种许可相互独立，查询采用参数化并绑定记录归属。异步请求同时绑定会话代次与活动代次，暂停、切换或退出后，旧结果不得回填。发生版本冲突时读取服务端权威状态再恢复；数据库、模型或检索失败都必须明确报错，不能显示假空结果或假成功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需求分析后，我们保留领域结构，补充工程职责。历史本地仓储实现替换为PostgreSQL仓储；新增Agent应用门面，负责创建、查询和取消任务，依赖AIProcessingService完成许可、上下文和安全编排。模型通过AIClient端口连接适配器，避免把HTTP任务状态塞进模型客户端。同时补充双代次、排练阶段和持久幂等模型。主讲展示增量和关键方法，附录保留编排与请求一致性局部图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里用UML局部展示Agent应用门面、AI处理服务、模型端口和适配器。应用门面依赖处理服务，提供任务创建、查询与取消；处理服务负责许可、上下文和安全编排，关联一个AIClient，一个客户端可供多个处理服务引用。LangChainModelAdapter实现AIClient，端口以请求对象接收模型输入并返回响应，另有取消能力。虚线箭头表示依赖，实线表示关联，虚线空心三角表示实现。HTTP任务信封、轮询状态和页面生命周期由上层管理，不属于模型传输端口的职责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双代次和持久幂等解决不同问题。PendingRequest绑定会话代次、活动代次、账号、登录、入口与设备，只有全部仍匹配且请求未取消才接纳返回值。持久写则由记录服务使用幂等服务，仓储保存作用域、载荷摘要、状态以及结果标识和版本。幂等服务关联一个仓储，仓储可被多个服务引用。账号、入口、操作与请求标识构成核实范围：同摘要返回原结果，异摘要返回四零九冲突。通用幂等表尚待同步ER和DDL，不能把类图设计描述为已落库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张数据流局部图将外部实体、处理与存储分开。用户选定正文先进入表达处理，默认只在临时内存。走模型或检索通路时，必须先取得对应的处理许可，只外发必要载荷；走主动保存通路时，则要求登录与保存许可，再把快照写入主表和类型子表。缺少哪一种许可，就阻断哪一条数据流。文字销毁正文不连接这两类通路，避免聊天、外发和持久化共用一份内容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保存流程按用户、界面、服务和数据库四条泳道展开。用户选定内容并点击保存，界面展示范围、取得明确许可，服务检查身份、入口、版本和许可是否有效。校验失败时拒绝操作并保留原输入；通过后提交主表与子表，事务失败必须整体回滚。成功提示以已提交事实为准；客户端如果写超时，就进入待确认并核实原请求，不能把等待结束当作保存成功。这一页展示保存段局部，异常恢复还可查附录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用户在运行或暂停状态完成排练后，界面进入reviewing，停止角色回复并使活动代次失效，只保留本轮本人消息供选择。用户选定认可表达后，需要新的模型处理许可进行整理，得到preview；再取得保存许可并核实提交结果，才进入saved。图中主讲正常路径，保存失败仍遵守待确认和核实规则。完成排练与结束会话是两个动作，只有END才清除整轮临时内容与许可，直接退出也必须清理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当前数据库DDL设计包含二十五张表，这里展示保存关系的核心局部。每条SavedRecord分别归属一个账号和可信入口，账号、入口都可以拥有多条记录。父表统一管理标识、类型、版本和请求标识；一条记录可以关联多条保存消息，并按类型关联至多一条情绪记录或查询记录。读取绑定账号与入口，更新再核对版本。这样能统一权限与生命周期，同时让各业务类型通过子表扩展。DDL尚待实际执行验证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账号分别与密码凭据、个人资料和偏好形成一对一关系，与登录会话和用途授权形成一对多关系。密码凭据保存Argon2id摘要；登录会话记录凭据摘要、过期和撤销信息。入口限定可信作用域，登录会话和许可都关联相应入口。ConsentGrant还限定业务用途、内容范围与资源版本，因此登录成功不等于获准外发，也不等于获准保存；撤回、过期或对象版本变化后，必须重新判断许可有效性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查询结果与多条主张关联，主张和来源通过EvidenceLink建立多对多关系，关联表以主张和来源标识构成复合主键。查询保存查询密文、状态和不确定性；主张保存正文密文，以及支持、冲突或未知状态；来源保存唯一URL、质量信息和抓取时间。界面据此逐条展示来源与不确定性。只有成功且具有可核来源的查询可主动保存，证据链从服务端有效结果复制，不能由客户端任意拼造。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物理设计采用UUID主键、bytea正文密文、UTC时间点和本地日历日期。通过作用域唯一约束、复合外键、版本乐观锁和访问索引维护一致性，相关主子表写入保持事务原子性。正文在应用层加密，密码保存Argon2id摘要，登录凭据在数据库中只保存SHA二五六摘要。加密备份保留七天，独立删除日志至少保留八天；恢复时先重放删除日志、撤销旧会话，再核对并开放服务。这些都是设计要求，约束、迁移和恢复仍需运行验证。</a:t>
            </a:r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一项问题是我们如何训练AI。根据本轮修订，首版使用智谱或通义千问等成熟模型API，不从零训练基础模型，也不安排参数微调。团队开发的是应用层Agent，包括任务提示、编排、状态、受控工具和按授权读取的记忆；这些工作都不修改模型权重。模型和版本通过同组场景测试选择，当前没有训练结果。来源：GitHub impureWine/404NOTFOUND，06-评审问题答复与改进过程.md，2026-10-22，文件版本c48da69dc045bec4beb8093036d2daf561a6875d。</a:t>
            </a:r>
            <a:endParaRPr 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二项问题是与豆包等通用AI的区别。我们不声称在底层语言模型上有本质创新，也承认通用产品可能具有记忆和搜索能力。项目的差异要落实到选择确认、按步骤执行、暂停恢复、审核练习、带来源查询和可控记忆这些完整流程中。后续将用同一模型比较基础聊天和完整工作流，检查未经授权的记忆、删除后读取、重复执行与失败表现；测试尚未执行，不能填写虚构优势。来源：GitHub impureWine/404NOTFOUND，06-评审问题答复与改进过程.md，2026-10-22，文件版本c48da69dc045bec4beb8093036d2daf561a6875d。</a:t>
            </a:r>
            <a:endParaRPr 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次改进先核对两项评审问题，再澄清应用层定位，细化任务编排与记忆流程，并对齐图示、数据和接口。文档明确了独立记忆授权、有效期、纠正和删除传播，契约升级为1.1，设计用例从55项补到67项。这里的67项是测试设计数量，不等于已执行通过；原有幂等结构跨稿同步与编码运行验证也仍须推进。来源：GitHub impureWine/404NOTFOUND，06-评审问题答复与改进过程.md，2026-10-22，文件版本c48da69dc045bec4beb8093036d2daf561a6875d。</a:t>
            </a:r>
            <a:endParaRPr 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开发计划明确分为六周。前两周完成设计与基础链路，第三周也就是十一月二日至八日，集中交付可运行的基础版。十一月四日前形成候选版，六日前修复阻断问题，八日前完成验收，同时提供运行包、启动说明、演示脚本和已知问题清单。基础版覆盖账号、陪伴与命名、记录和日历、固定训练及桌宠最小壳。</a:t>
            </a:r>
            <a:endParaRPr 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基础版之后，十一月九日至十五日补齐查询来源、物件化、排练、寄存和三类互动。十一月中下旬进入两轮集中冲刺：第一轮完成全量测试、用户反馈、安全和性能优化，形成候选版；第二轮冻结新增功能，修复剩余缺陷并完成部署、文档和演示交付。最终以非模块作者能够按说明复现运行作为交付检查的一项要求。</a:t>
            </a:r>
            <a:endParaRPr 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单独说明本次系统与数据库设计作业的分工。张王昊统筹需求、计划与答辩，郭昱祺负责交互图示和PPT，程杰负责前端与多入口设计，李泉毅负责架构、类图、接口和主讲。程群负责AI编排，庄剀涵负责数据库与检索，关欣负责安全及评审，曾俊涛负责测试运维与交付检查。表中贡献比例沿用本次输入PPT的记录，八人合计百分之百；后续开发职责见后两页。</a:t>
            </a:r>
            <a:endParaRPr 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前四位成员的开发边界如下。张王昊负责需求、排期、变更和验收组织，郭昱祺负责交互设计、状态规范与可用性改进。程杰实现页面、桌宠和端侧互动，并处理资源释放；李泉毅负责认证会话、业务服务、共享接口校验以及并发事务。表格列出各自后续开发的具体任务和交付物；本次作业分工与贡献已在前一页单独列出。</a:t>
            </a:r>
            <a:endParaRPr 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程群负责模型适配、任务编排、训练和AI边界评测；庄剀涵负责数据存取、检索来源与生命周期。关欣负责权限、隐私、内容安全检查与缺陷复核，曾俊涛负责集成测试、打包部署、恢复回退和运行复现。每位成员负责本人模块的实现、联调、修复和技术说明，十一月中下旬共同完成冲刺与验收。</a:t>
            </a:r>
            <a:endParaRPr lang="zh-CN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我们的汇报到这里结束，感谢各位老师、助教和同学聆听，恳请批评指正。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04NOTFOUND_系统与数据库设计答辩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altLang="zh-CN" smtClean="0"/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altLang="zh-CN" smtClean="0"/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CN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lang="zh-CN"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lang="zh-CN"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notesSlide" Target="../notesSlides/notesSlide16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sual-slide_01-2"/>
          <p:cNvSpPr/>
          <p:nvPr/>
        </p:nvSpPr>
        <p:spPr>
          <a:xfrm>
            <a:off x="762000" y="400050"/>
            <a:ext cx="47625" cy="457200"/>
          </a:xfrm>
          <a:prstGeom prst="rect">
            <a:avLst/>
          </a:prstGeom>
          <a:solidFill>
            <a:srgbClr val="BE6485"/>
          </a:solidFill>
          <a:ln>
            <a:noFill/>
          </a:ln>
        </p:spPr>
      </p:sp>
      <p:grpSp>
        <p:nvGrpSpPr>
          <p:cNvPr id="8" name="cover-title"/>
          <p:cNvGrpSpPr/>
          <p:nvPr/>
        </p:nvGrpSpPr>
        <p:grpSpPr>
          <a:xfrm>
            <a:off x="742950" y="2095500"/>
            <a:ext cx="4573524" cy="3106782"/>
            <a:chOff x="742950" y="2095500"/>
            <a:chExt cx="4573524" cy="3106782"/>
          </a:xfrm>
        </p:grpSpPr>
        <p:sp>
          <p:nvSpPr>
            <p:cNvPr id="3" name="visual-slide_01-4"/>
            <p:cNvSpPr txBox="1"/>
            <p:nvPr/>
          </p:nvSpPr>
          <p:spPr>
            <a:xfrm>
              <a:off x="742950" y="2095500"/>
              <a:ext cx="4517540" cy="90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650" b="1" dirty="0">
                  <a:solidFill>
                    <a:srgbClr val="71364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404NOTFOUND</a:t>
              </a:r>
              <a:endParaRPr lang="en-US" sz="4650" b="1" dirty="0">
                <a:solidFill>
                  <a:srgbClr val="7136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" name="visual-slide_01-5"/>
            <p:cNvSpPr txBox="1"/>
            <p:nvPr/>
          </p:nvSpPr>
          <p:spPr>
            <a:xfrm>
              <a:off x="768858" y="3032125"/>
              <a:ext cx="454761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从功能设想到可追踪的工程设计</a:t>
              </a:r>
              <a:endParaRPr lang="zh-CN" sz="2400" b="1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" name="visual-slide_01-6"/>
            <p:cNvSpPr txBox="1"/>
            <p:nvPr/>
          </p:nvSpPr>
          <p:spPr>
            <a:xfrm>
              <a:off x="771144" y="3587750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78687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日常烦恼陪伴与减压</a:t>
              </a:r>
              <a:endParaRPr lang="zh-CN" sz="1950" dirty="0">
                <a:solidFill>
                  <a:srgbClr val="786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" name="visual-slide_01-7"/>
            <p:cNvSpPr txBox="1"/>
            <p:nvPr/>
          </p:nvSpPr>
          <p:spPr>
            <a:xfrm>
              <a:off x="771144" y="4902200"/>
              <a:ext cx="1500411" cy="300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主讲：李泉毅</a:t>
              </a:r>
              <a:endParaRPr lang="zh-CN" sz="19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7" name="page-footer"/>
          <p:cNvGrpSpPr/>
          <p:nvPr/>
        </p:nvGrpSpPr>
        <p:grpSpPr>
          <a:xfrm>
            <a:off x="762000" y="6343650"/>
            <a:ext cx="10674096" cy="339471"/>
            <a:chOff x="762000" y="6343650"/>
            <a:chExt cx="10674096" cy="339471"/>
          </a:xfrm>
        </p:grpSpPr>
        <p:sp>
          <p:nvSpPr>
            <p:cNvPr id="14" name="Line 14"/>
            <p:cNvSpPr/>
            <p:nvPr/>
          </p:nvSpPr>
          <p:spPr>
            <a:xfrm>
              <a:off x="762000" y="63436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9DCE3"/>
              </a:solidFill>
            </a:ln>
          </p:spPr>
        </p:sp>
        <p:sp>
          <p:nvSpPr>
            <p:cNvPr id="16" name="visual-slide_01-15"/>
            <p:cNvSpPr/>
            <p:nvPr/>
          </p:nvSpPr>
          <p:spPr>
            <a:xfrm>
              <a:off x="10882694" y="6448425"/>
              <a:ext cx="5534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200" dirty="0">
                  <a:solidFill>
                    <a:srgbClr val="78687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01 / 24</a:t>
              </a:r>
              <a:endParaRPr lang="zh-CN" sz="1200" dirty="0">
                <a:solidFill>
                  <a:srgbClr val="786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8" name="visual-slide_01-16"/>
          <p:cNvSpPr txBox="1"/>
          <p:nvPr/>
        </p:nvSpPr>
        <p:spPr>
          <a:xfrm>
            <a:off x="956310" y="422275"/>
            <a:ext cx="487680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7136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系统设计与数据库设计答辩</a:t>
            </a:r>
            <a:endParaRPr lang="zh-CN" sz="3000" b="1" dirty="0">
              <a:solidFill>
                <a:srgbClr val="7136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visual-slide_01-17"/>
          <p:cNvSpPr txBox="1"/>
          <p:nvPr/>
        </p:nvSpPr>
        <p:spPr>
          <a:xfrm>
            <a:off x="753618" y="1311275"/>
            <a:ext cx="1170192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786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2026-10-22</a:t>
            </a:r>
            <a:endParaRPr lang="zh-CN" sz="1650" dirty="0">
              <a:solidFill>
                <a:srgbClr val="7868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914400" y="12573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38100">
            <a:solidFill>
              <a:srgbClr val="BE6485"/>
            </a:solidFill>
          </a:ln>
        </p:spPr>
      </p:sp>
      <p:grpSp>
        <p:nvGrpSpPr>
          <p:cNvPr id="4" name="title"/>
          <p:cNvGrpSpPr/>
          <p:nvPr/>
        </p:nvGrpSpPr>
        <p:grpSpPr>
          <a:xfrm>
            <a:off x="897636" y="431768"/>
            <a:ext cx="10477500" cy="645414"/>
            <a:chOff x="897636" y="431768"/>
            <a:chExt cx="10477500" cy="645414"/>
          </a:xfrm>
        </p:grpSpPr>
        <p:sp>
          <p:nvSpPr>
            <p:cNvPr id="3" name="TextBox 3"/>
            <p:cNvSpPr/>
            <p:nvPr/>
          </p:nvSpPr>
          <p:spPr>
            <a:xfrm>
              <a:off x="897636" y="431768"/>
              <a:ext cx="104775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rgbClr val="71364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六模块，覆盖17项需求</a:t>
              </a:r>
              <a:endParaRPr lang="zh-CN" sz="3300" b="1" dirty="0">
                <a:solidFill>
                  <a:srgbClr val="7136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0" name="account"/>
          <p:cNvGrpSpPr/>
          <p:nvPr/>
        </p:nvGrpSpPr>
        <p:grpSpPr>
          <a:xfrm>
            <a:off x="902208" y="2336768"/>
            <a:ext cx="2609564" cy="1307021"/>
            <a:chOff x="902208" y="2336768"/>
            <a:chExt cx="2609564" cy="1307021"/>
          </a:xfrm>
        </p:grpSpPr>
        <p:sp>
          <p:nvSpPr>
            <p:cNvPr id="7" name="TextBox 7"/>
            <p:cNvSpPr/>
            <p:nvPr/>
          </p:nvSpPr>
          <p:spPr>
            <a:xfrm>
              <a:off x="902208" y="2336768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账号与个人中心</a:t>
              </a:r>
              <a:endParaRPr lang="zh-CN" sz="2400" b="1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" name="TextBox 8"/>
            <p:cNvSpPr/>
            <p:nvPr/>
          </p:nvSpPr>
          <p:spPr>
            <a:xfrm>
              <a:off x="903732" y="2832068"/>
              <a:ext cx="26080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注册登录 · 私密主页</a:t>
              </a:r>
              <a:endParaRPr lang="zh-CN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" name="TextBox 9"/>
            <p:cNvSpPr/>
            <p:nvPr/>
          </p:nvSpPr>
          <p:spPr>
            <a:xfrm>
              <a:off x="906018" y="3321082"/>
              <a:ext cx="12372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en-US" sz="1650" dirty="0">
                  <a:solidFill>
                    <a:srgbClr val="78687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REQ16 / 17</a:t>
              </a:r>
              <a:endParaRPr lang="en-US" sz="1650" dirty="0">
                <a:solidFill>
                  <a:srgbClr val="786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4" name="companion"/>
          <p:cNvGrpSpPr/>
          <p:nvPr/>
        </p:nvGrpSpPr>
        <p:grpSpPr>
          <a:xfrm>
            <a:off x="4597908" y="2336768"/>
            <a:ext cx="2651950" cy="1307021"/>
            <a:chOff x="4597908" y="2336768"/>
            <a:chExt cx="2651950" cy="1307021"/>
          </a:xfrm>
        </p:grpSpPr>
        <p:sp>
          <p:nvSpPr>
            <p:cNvPr id="11" name="TextBox 11"/>
            <p:cNvSpPr/>
            <p:nvPr/>
          </p:nvSpPr>
          <p:spPr>
            <a:xfrm>
              <a:off x="4597908" y="2336768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陪伴与沟通</a:t>
              </a:r>
              <a:endParaRPr lang="zh-CN" sz="2400" b="1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" name="TextBox 12"/>
            <p:cNvSpPr/>
            <p:nvPr/>
          </p:nvSpPr>
          <p:spPr>
            <a:xfrm>
              <a:off x="4599432" y="2832068"/>
              <a:ext cx="265042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交流 · 命名卡 · 排练</a:t>
              </a:r>
              <a:endParaRPr lang="zh-CN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" name="TextBox 13"/>
            <p:cNvSpPr/>
            <p:nvPr/>
          </p:nvSpPr>
          <p:spPr>
            <a:xfrm>
              <a:off x="4601718" y="3321082"/>
              <a:ext cx="17652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en-US" sz="1650" dirty="0">
                  <a:solidFill>
                    <a:srgbClr val="78687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REQ01 / 09 / 11</a:t>
              </a:r>
              <a:endParaRPr lang="en-US" sz="1650" dirty="0">
                <a:solidFill>
                  <a:srgbClr val="786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8" name="records"/>
          <p:cNvGrpSpPr/>
          <p:nvPr/>
        </p:nvGrpSpPr>
        <p:grpSpPr>
          <a:xfrm>
            <a:off x="8293608" y="2336768"/>
            <a:ext cx="2369248" cy="1307021"/>
            <a:chOff x="8293608" y="2336768"/>
            <a:chExt cx="2369248" cy="1307021"/>
          </a:xfrm>
        </p:grpSpPr>
        <p:sp>
          <p:nvSpPr>
            <p:cNvPr id="15" name="TextBox 15"/>
            <p:cNvSpPr/>
            <p:nvPr/>
          </p:nvSpPr>
          <p:spPr>
            <a:xfrm>
              <a:off x="8293608" y="2336768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记录与整理</a:t>
              </a:r>
              <a:endParaRPr lang="zh-CN" sz="2400" b="1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TextBox 16"/>
            <p:cNvSpPr/>
            <p:nvPr/>
          </p:nvSpPr>
          <p:spPr>
            <a:xfrm>
              <a:off x="8295132" y="2832068"/>
              <a:ext cx="236772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日历 · 物件 · 寄存</a:t>
              </a:r>
              <a:endParaRPr lang="zh-CN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" name="TextBox 17"/>
            <p:cNvSpPr/>
            <p:nvPr/>
          </p:nvSpPr>
          <p:spPr>
            <a:xfrm>
              <a:off x="8297418" y="3321082"/>
              <a:ext cx="17652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en-US" sz="1650" dirty="0">
                  <a:solidFill>
                    <a:srgbClr val="78687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REQ08 / 10 / 12</a:t>
              </a:r>
              <a:endParaRPr lang="en-US" sz="1650" dirty="0">
                <a:solidFill>
                  <a:srgbClr val="786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2" name="relief"/>
          <p:cNvGrpSpPr/>
          <p:nvPr/>
        </p:nvGrpSpPr>
        <p:grpSpPr>
          <a:xfrm>
            <a:off x="902208" y="4337018"/>
            <a:ext cx="2297144" cy="1630871"/>
            <a:chOff x="902208" y="4337018"/>
            <a:chExt cx="2297144" cy="1630871"/>
          </a:xfrm>
        </p:grpSpPr>
        <p:sp>
          <p:nvSpPr>
            <p:cNvPr id="19" name="TextBox 19"/>
            <p:cNvSpPr/>
            <p:nvPr/>
          </p:nvSpPr>
          <p:spPr>
            <a:xfrm>
              <a:off x="902208" y="4337018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压力缓解</a:t>
              </a:r>
              <a:endParaRPr lang="zh-CN" sz="2400" b="1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0" name="TextBox 20"/>
            <p:cNvSpPr/>
            <p:nvPr/>
          </p:nvSpPr>
          <p:spPr>
            <a:xfrm>
              <a:off x="903732" y="4781550"/>
              <a:ext cx="2234946" cy="8107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训练 · 发泄 · 销毁</a:t>
              </a:r>
              <a:br>
                <a:rPr lang="zh-CN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编曲弹珠机</a:t>
              </a:r>
              <a:endParaRPr lang="zh-CN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1" name="TextBox 21"/>
            <p:cNvSpPr/>
            <p:nvPr/>
          </p:nvSpPr>
          <p:spPr>
            <a:xfrm>
              <a:off x="906018" y="5645182"/>
              <a:ext cx="22933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en-US" sz="1650" dirty="0">
                  <a:solidFill>
                    <a:srgbClr val="78687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REQ02 / 13 / 14 / 15</a:t>
              </a:r>
              <a:endParaRPr lang="en-US" sz="1650" dirty="0">
                <a:solidFill>
                  <a:srgbClr val="786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6" name="search"/>
          <p:cNvGrpSpPr/>
          <p:nvPr/>
        </p:nvGrpSpPr>
        <p:grpSpPr>
          <a:xfrm>
            <a:off x="4597908" y="4337018"/>
            <a:ext cx="2892266" cy="1630871"/>
            <a:chOff x="4597908" y="4337018"/>
            <a:chExt cx="2892266" cy="1630871"/>
          </a:xfrm>
        </p:grpSpPr>
        <p:sp>
          <p:nvSpPr>
            <p:cNvPr id="23" name="TextBox 23"/>
            <p:cNvSpPr/>
            <p:nvPr/>
          </p:nvSpPr>
          <p:spPr>
            <a:xfrm>
              <a:off x="4597908" y="4337018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信息支持</a:t>
              </a:r>
              <a:endParaRPr lang="zh-CN" sz="2400" b="1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" name="TextBox 24"/>
            <p:cNvSpPr/>
            <p:nvPr/>
          </p:nvSpPr>
          <p:spPr>
            <a:xfrm>
              <a:off x="4599432" y="4832318"/>
              <a:ext cx="28907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查询 · 来源与不确定性</a:t>
              </a:r>
              <a:endParaRPr lang="zh-CN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5" name="TextBox 25"/>
            <p:cNvSpPr/>
            <p:nvPr/>
          </p:nvSpPr>
          <p:spPr>
            <a:xfrm>
              <a:off x="4601718" y="5645182"/>
              <a:ext cx="70913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en-US" sz="1650" dirty="0">
                  <a:solidFill>
                    <a:srgbClr val="78687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REQ03</a:t>
              </a:r>
              <a:endParaRPr lang="en-US" sz="1650" dirty="0">
                <a:solidFill>
                  <a:srgbClr val="786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0" name="foundation"/>
          <p:cNvGrpSpPr/>
          <p:nvPr/>
        </p:nvGrpSpPr>
        <p:grpSpPr>
          <a:xfrm>
            <a:off x="8293608" y="4337018"/>
            <a:ext cx="2297144" cy="1630871"/>
            <a:chOff x="8293608" y="4337018"/>
            <a:chExt cx="2297144" cy="1630871"/>
          </a:xfrm>
        </p:grpSpPr>
        <p:sp>
          <p:nvSpPr>
            <p:cNvPr id="27" name="TextBox 27"/>
            <p:cNvSpPr/>
            <p:nvPr/>
          </p:nvSpPr>
          <p:spPr>
            <a:xfrm>
              <a:off x="8293608" y="4337018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基础与多端</a:t>
              </a:r>
              <a:endParaRPr lang="zh-CN" sz="2400" b="1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8" name="TextBox 28"/>
            <p:cNvSpPr/>
            <p:nvPr/>
          </p:nvSpPr>
          <p:spPr>
            <a:xfrm>
              <a:off x="8295132" y="4781550"/>
              <a:ext cx="2234946" cy="8107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切换 · 会话 · 入口</a:t>
              </a:r>
              <a:br>
                <a:rPr lang="zh-CN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安全与隐私</a:t>
              </a:r>
              <a:endParaRPr lang="zh-CN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9" name="TextBox 29"/>
            <p:cNvSpPr/>
            <p:nvPr/>
          </p:nvSpPr>
          <p:spPr>
            <a:xfrm>
              <a:off x="8297418" y="5645182"/>
              <a:ext cx="22933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en-US" sz="1650" dirty="0">
                  <a:solidFill>
                    <a:srgbClr val="78687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REQ04 / 05 / 06 / 07</a:t>
              </a:r>
              <a:endParaRPr lang="en-US" sz="1650" dirty="0">
                <a:solidFill>
                  <a:srgbClr val="786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32" name="TextBox 32"/>
          <p:cNvSpPr/>
          <p:nvPr/>
        </p:nvSpPr>
        <p:spPr>
          <a:xfrm>
            <a:off x="10730294" y="6362700"/>
            <a:ext cx="5534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786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/ 24</a:t>
            </a:r>
            <a:endParaRPr lang="zh-CN" sz="1200" dirty="0">
              <a:solidFill>
                <a:srgbClr val="7868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Line 56"/>
          <p:cNvSpPr/>
          <p:nvPr/>
        </p:nvSpPr>
        <p:spPr>
          <a:xfrm>
            <a:off x="904875" y="6229350"/>
            <a:ext cx="10382250" cy="9525"/>
          </a:xfrm>
          <a:custGeom>
            <a:avLst/>
            <a:gdLst/>
            <a:ahLst/>
            <a:cxnLst/>
            <a:rect l="l" t="t" r="r" b="b"/>
            <a:pathLst>
              <a:path w="10382250" h="9525">
                <a:moveTo>
                  <a:pt x="0" y="0"/>
                </a:moveTo>
                <a:lnTo>
                  <a:pt x="10382250" y="0"/>
                </a:lnTo>
              </a:path>
            </a:pathLst>
          </a:custGeom>
          <a:noFill/>
          <a:ln w="9525">
            <a:solidFill>
              <a:srgbClr val="E9DCE3"/>
            </a:solidFill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914400" y="12573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38100">
            <a:solidFill>
              <a:srgbClr val="BE6485"/>
            </a:solidFill>
          </a:ln>
        </p:spPr>
      </p:sp>
      <p:grpSp>
        <p:nvGrpSpPr>
          <p:cNvPr id="4" name="title"/>
          <p:cNvGrpSpPr/>
          <p:nvPr/>
        </p:nvGrpSpPr>
        <p:grpSpPr>
          <a:xfrm>
            <a:off x="897636" y="431768"/>
            <a:ext cx="10477500" cy="645414"/>
            <a:chOff x="897636" y="431768"/>
            <a:chExt cx="10477500" cy="645414"/>
          </a:xfrm>
        </p:grpSpPr>
        <p:sp>
          <p:nvSpPr>
            <p:cNvPr id="3" name="TextBox 3"/>
            <p:cNvSpPr/>
            <p:nvPr/>
          </p:nvSpPr>
          <p:spPr>
            <a:xfrm>
              <a:off x="897636" y="431768"/>
              <a:ext cx="104775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rgbClr val="71364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模块化单体与多入口边界</a:t>
              </a:r>
              <a:endParaRPr lang="zh-CN" sz="3300" b="1" dirty="0">
                <a:solidFill>
                  <a:srgbClr val="7136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1" name="system"/>
          <p:cNvGrpSpPr/>
          <p:nvPr/>
        </p:nvGrpSpPr>
        <p:grpSpPr>
          <a:xfrm>
            <a:off x="933450" y="2324100"/>
            <a:ext cx="10325100" cy="2857500"/>
            <a:chOff x="933450" y="2324100"/>
            <a:chExt cx="10325100" cy="2857500"/>
          </a:xfrm>
        </p:grpSpPr>
        <p:sp>
          <p:nvSpPr>
            <p:cNvPr id="7" name="Line 7"/>
            <p:cNvSpPr/>
            <p:nvPr/>
          </p:nvSpPr>
          <p:spPr>
            <a:xfrm>
              <a:off x="3752850" y="3790950"/>
              <a:ext cx="819150" cy="0"/>
            </a:xfrm>
            <a:prstGeom prst="line">
              <a:avLst/>
            </a:prstGeom>
            <a:noFill/>
            <a:ln w="19050">
              <a:solidFill>
                <a:srgbClr val="342B33"/>
              </a:solidFill>
              <a:tailEnd type="arrow" w="lg" len="lg"/>
            </a:ln>
          </p:spPr>
        </p:sp>
        <p:sp>
          <p:nvSpPr>
            <p:cNvPr id="8" name="Line 8"/>
            <p:cNvSpPr/>
            <p:nvPr/>
          </p:nvSpPr>
          <p:spPr>
            <a:xfrm>
              <a:off x="7429500" y="3790950"/>
              <a:ext cx="819150" cy="0"/>
            </a:xfrm>
            <a:prstGeom prst="line">
              <a:avLst/>
            </a:prstGeom>
            <a:noFill/>
            <a:ln w="19050">
              <a:solidFill>
                <a:srgbClr val="342B33"/>
              </a:solidFill>
              <a:tailEnd type="arrow" w="lg" len="lg"/>
            </a:ln>
          </p:spPr>
        </p:sp>
        <p:sp>
          <p:nvSpPr>
            <p:cNvPr id="9" name="Rectangle 9"/>
            <p:cNvSpPr/>
            <p:nvPr/>
          </p:nvSpPr>
          <p:spPr>
            <a:xfrm>
              <a:off x="933450" y="2324100"/>
              <a:ext cx="2800350" cy="2857500"/>
            </a:xfrm>
            <a:prstGeom prst="roundRect">
              <a:avLst>
                <a:gd name="adj" fmla="val 2721"/>
              </a:avLst>
            </a:prstGeom>
            <a:noFill/>
            <a:ln w="14288">
              <a:solidFill>
                <a:srgbClr val="786873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4610100" y="2324100"/>
              <a:ext cx="2800350" cy="2857500"/>
            </a:xfrm>
            <a:prstGeom prst="roundRect">
              <a:avLst>
                <a:gd name="adj" fmla="val 2721"/>
              </a:avLst>
            </a:prstGeom>
            <a:noFill/>
            <a:ln w="14288">
              <a:solidFill>
                <a:srgbClr val="786873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8286750" y="2324100"/>
              <a:ext cx="2971800" cy="2857500"/>
            </a:xfrm>
            <a:prstGeom prst="roundRect">
              <a:avLst>
                <a:gd name="adj" fmla="val 2667"/>
              </a:avLst>
            </a:prstGeom>
            <a:noFill/>
            <a:ln w="14288">
              <a:solidFill>
                <a:srgbClr val="786873"/>
              </a:solidFill>
            </a:ln>
          </p:spPr>
        </p:sp>
        <p:sp>
          <p:nvSpPr>
            <p:cNvPr id="12" name="TextBox 12"/>
            <p:cNvSpPr/>
            <p:nvPr/>
          </p:nvSpPr>
          <p:spPr>
            <a:xfrm>
              <a:off x="1130808" y="2432018"/>
              <a:ext cx="99364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客户端</a:t>
              </a:r>
              <a:endParaRPr lang="zh-CN" sz="2400" b="1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" name="TextBox 13"/>
            <p:cNvSpPr/>
            <p:nvPr/>
          </p:nvSpPr>
          <p:spPr>
            <a:xfrm>
              <a:off x="1132332" y="2908268"/>
              <a:ext cx="1928241" cy="14013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>
                <a:lnSpc>
                  <a:spcPts val="3900"/>
                </a:lnSpc>
              </a:pPr>
              <a:r>
                <a:rPr lang="en-US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React / Vite</a:t>
              </a:r>
              <a:br>
                <a:rPr lang="en-US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en-US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Web / Electron</a:t>
              </a:r>
              <a:br>
                <a:rPr lang="en-US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微信入口适配</a:t>
              </a:r>
              <a:endParaRPr lang="zh-CN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" name="TextBox 14"/>
            <p:cNvSpPr/>
            <p:nvPr/>
          </p:nvSpPr>
          <p:spPr>
            <a:xfrm>
              <a:off x="1134618" y="465458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78687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状态、交互、资源清理</a:t>
              </a:r>
              <a:endParaRPr lang="zh-CN" sz="1650" dirty="0">
                <a:solidFill>
                  <a:srgbClr val="786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5" name="TextBox 15"/>
            <p:cNvSpPr/>
            <p:nvPr/>
          </p:nvSpPr>
          <p:spPr>
            <a:xfrm>
              <a:off x="4807458" y="2432018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应用服务</a:t>
              </a:r>
              <a:endParaRPr lang="zh-CN" sz="2400" b="1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TextBox 16"/>
            <p:cNvSpPr/>
            <p:nvPr/>
          </p:nvSpPr>
          <p:spPr>
            <a:xfrm>
              <a:off x="4808982" y="2908268"/>
              <a:ext cx="2234946" cy="14013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>
                <a:lnSpc>
                  <a:spcPts val="3900"/>
                </a:lnSpc>
              </a:pPr>
              <a:r>
                <a:rPr lang="en-US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Express + Zod</a:t>
              </a:r>
              <a:br>
                <a:rPr lang="en-US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任务 / 记录 / 授权</a:t>
              </a:r>
              <a:br>
                <a:rPr lang="zh-CN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领域规则与端口</a:t>
              </a:r>
              <a:endParaRPr lang="zh-CN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" name="TextBox 17"/>
            <p:cNvSpPr/>
            <p:nvPr/>
          </p:nvSpPr>
          <p:spPr>
            <a:xfrm>
              <a:off x="4811268" y="4654582"/>
              <a:ext cx="21223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78687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同源API，服务端验权</a:t>
              </a:r>
              <a:endParaRPr lang="zh-CN" sz="1650" dirty="0">
                <a:solidFill>
                  <a:srgbClr val="786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" name="TextBox 18"/>
            <p:cNvSpPr/>
            <p:nvPr/>
          </p:nvSpPr>
          <p:spPr>
            <a:xfrm>
              <a:off x="8484108" y="2432018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基础设施</a:t>
              </a:r>
              <a:endParaRPr lang="zh-CN" sz="2400" b="1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" name="TextBox 19"/>
            <p:cNvSpPr/>
            <p:nvPr/>
          </p:nvSpPr>
          <p:spPr>
            <a:xfrm>
              <a:off x="8485632" y="2908268"/>
              <a:ext cx="2141601" cy="14013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>
                <a:lnSpc>
                  <a:spcPts val="3900"/>
                </a:lnSpc>
              </a:pPr>
              <a:r>
                <a:rPr lang="en-US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PostgreSQL / pg</a:t>
              </a:r>
              <a:br>
                <a:rPr lang="en-US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LangChain适配</a:t>
              </a:r>
              <a:br>
                <a:rPr lang="zh-CN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固定检索供应商</a:t>
              </a:r>
              <a:endParaRPr lang="zh-CN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0" name="TextBox 20"/>
            <p:cNvSpPr/>
            <p:nvPr/>
          </p:nvSpPr>
          <p:spPr>
            <a:xfrm>
              <a:off x="8487918" y="46545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78687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私网数据库，密钥在服务端</a:t>
              </a:r>
              <a:endParaRPr lang="zh-CN" sz="1650" dirty="0">
                <a:solidFill>
                  <a:srgbClr val="786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25" name="TextBox 25"/>
          <p:cNvSpPr/>
          <p:nvPr/>
        </p:nvSpPr>
        <p:spPr>
          <a:xfrm>
            <a:off x="10730294" y="6362700"/>
            <a:ext cx="5534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786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/ 24</a:t>
            </a:r>
            <a:endParaRPr lang="zh-CN" sz="1200" dirty="0">
              <a:solidFill>
                <a:srgbClr val="7868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Line 41"/>
          <p:cNvSpPr/>
          <p:nvPr/>
        </p:nvSpPr>
        <p:spPr>
          <a:xfrm>
            <a:off x="904875" y="6229350"/>
            <a:ext cx="10382250" cy="9525"/>
          </a:xfrm>
          <a:custGeom>
            <a:avLst/>
            <a:gdLst/>
            <a:ahLst/>
            <a:cxnLst/>
            <a:rect l="l" t="t" r="r" b="b"/>
            <a:pathLst>
              <a:path w="10382250" h="9525">
                <a:moveTo>
                  <a:pt x="0" y="0"/>
                </a:moveTo>
                <a:lnTo>
                  <a:pt x="10382250" y="0"/>
                </a:lnTo>
              </a:path>
            </a:pathLst>
          </a:custGeom>
          <a:noFill/>
          <a:ln w="9525">
            <a:solidFill>
              <a:srgbClr val="E9DCE3"/>
            </a:solidFill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914400" y="12573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38100">
            <a:solidFill>
              <a:srgbClr val="BE6485"/>
            </a:solidFill>
          </a:ln>
        </p:spPr>
      </p:sp>
      <p:grpSp>
        <p:nvGrpSpPr>
          <p:cNvPr id="4" name="title"/>
          <p:cNvGrpSpPr/>
          <p:nvPr/>
        </p:nvGrpSpPr>
        <p:grpSpPr>
          <a:xfrm>
            <a:off x="897636" y="431768"/>
            <a:ext cx="10477500" cy="645414"/>
            <a:chOff x="897636" y="431768"/>
            <a:chExt cx="10477500" cy="645414"/>
          </a:xfrm>
        </p:grpSpPr>
        <p:sp>
          <p:nvSpPr>
            <p:cNvPr id="3" name="TextBox 3"/>
            <p:cNvSpPr/>
            <p:nvPr/>
          </p:nvSpPr>
          <p:spPr>
            <a:xfrm>
              <a:off x="897636" y="431768"/>
              <a:ext cx="104775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rgbClr val="71364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32个HTTP端点，契约集中维护</a:t>
              </a:r>
              <a:endParaRPr lang="zh-CN" sz="3300" b="1" dirty="0">
                <a:solidFill>
                  <a:srgbClr val="7136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0" name="task"/>
          <p:cNvGrpSpPr/>
          <p:nvPr/>
        </p:nvGrpSpPr>
        <p:grpSpPr>
          <a:xfrm>
            <a:off x="902208" y="2317718"/>
            <a:ext cx="9510808" cy="830771"/>
            <a:chOff x="902208" y="2317718"/>
            <a:chExt cx="9510808" cy="830771"/>
          </a:xfrm>
        </p:grpSpPr>
        <p:sp>
          <p:nvSpPr>
            <p:cNvPr id="7" name="TextBox 7"/>
            <p:cNvSpPr/>
            <p:nvPr/>
          </p:nvSpPr>
          <p:spPr>
            <a:xfrm>
              <a:off x="902208" y="2317718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开始生成</a:t>
              </a:r>
              <a:endParaRPr lang="zh-CN" sz="2400" b="1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" name="TextBox 8"/>
            <p:cNvSpPr/>
            <p:nvPr/>
          </p:nvSpPr>
          <p:spPr>
            <a:xfrm>
              <a:off x="3569208" y="2317718"/>
              <a:ext cx="37075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en-US" sz="24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POST /api/agent/tasks</a:t>
              </a:r>
              <a:endParaRPr lang="en-US" sz="24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" name="TextBox 9"/>
            <p:cNvSpPr/>
            <p:nvPr/>
          </p:nvSpPr>
          <p:spPr>
            <a:xfrm>
              <a:off x="3573018" y="2825782"/>
              <a:ext cx="68399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78687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202受理 → GET /api/agent/tasks/:requestId → 完成 / 失败 / 取消</a:t>
              </a:r>
              <a:endParaRPr lang="zh-CN" sz="1650" dirty="0">
                <a:solidFill>
                  <a:srgbClr val="786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4" name="save"/>
          <p:cNvGrpSpPr/>
          <p:nvPr/>
        </p:nvGrpSpPr>
        <p:grpSpPr>
          <a:xfrm>
            <a:off x="902208" y="3479768"/>
            <a:ext cx="9083897" cy="830771"/>
            <a:chOff x="902208" y="3479768"/>
            <a:chExt cx="9083897" cy="830771"/>
          </a:xfrm>
        </p:grpSpPr>
        <p:sp>
          <p:nvSpPr>
            <p:cNvPr id="11" name="TextBox 11"/>
            <p:cNvSpPr/>
            <p:nvPr/>
          </p:nvSpPr>
          <p:spPr>
            <a:xfrm>
              <a:off x="902208" y="3479768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主动保存</a:t>
              </a:r>
              <a:endParaRPr lang="zh-CN" sz="2400" b="1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" name="TextBox 12"/>
            <p:cNvSpPr/>
            <p:nvPr/>
          </p:nvSpPr>
          <p:spPr>
            <a:xfrm>
              <a:off x="3569208" y="3479768"/>
              <a:ext cx="29956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en-US" sz="24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POST /api/records</a:t>
              </a:r>
              <a:endParaRPr lang="en-US" sz="24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" name="TextBox 13"/>
            <p:cNvSpPr/>
            <p:nvPr/>
          </p:nvSpPr>
          <p:spPr>
            <a:xfrm>
              <a:off x="3573018" y="3987832"/>
              <a:ext cx="64130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78687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requestId + kind + payload + consentId；有效登录与SAVE许可</a:t>
              </a:r>
              <a:endParaRPr lang="zh-CN" sz="1650" dirty="0">
                <a:solidFill>
                  <a:srgbClr val="786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8" name="limits"/>
          <p:cNvGrpSpPr/>
          <p:nvPr/>
        </p:nvGrpSpPr>
        <p:grpSpPr>
          <a:xfrm>
            <a:off x="902208" y="4603718"/>
            <a:ext cx="7911560" cy="773621"/>
            <a:chOff x="902208" y="4603718"/>
            <a:chExt cx="7911560" cy="773621"/>
          </a:xfrm>
        </p:grpSpPr>
        <p:sp>
          <p:nvSpPr>
            <p:cNvPr id="15" name="TextBox 15"/>
            <p:cNvSpPr/>
            <p:nvPr/>
          </p:nvSpPr>
          <p:spPr>
            <a:xfrm>
              <a:off x="902208" y="4603718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输入约束</a:t>
              </a:r>
              <a:endParaRPr lang="zh-CN" sz="2400" b="1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TextBox 16"/>
            <p:cNvSpPr/>
            <p:nvPr/>
          </p:nvSpPr>
          <p:spPr>
            <a:xfrm>
              <a:off x="3570732" y="4641818"/>
              <a:ext cx="468591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正文≤4000码点；新密码12～128码点</a:t>
              </a:r>
              <a:endParaRPr lang="zh-CN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" name="TextBox 17"/>
            <p:cNvSpPr/>
            <p:nvPr/>
          </p:nvSpPr>
          <p:spPr>
            <a:xfrm>
              <a:off x="3573018" y="5054632"/>
              <a:ext cx="524075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78687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共享Zod Schema；服务端仍独立校验权限与可信入口</a:t>
              </a:r>
              <a:endParaRPr lang="zh-CN" sz="1650" dirty="0">
                <a:solidFill>
                  <a:srgbClr val="786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22" name="TextBox 22"/>
          <p:cNvSpPr/>
          <p:nvPr/>
        </p:nvSpPr>
        <p:spPr>
          <a:xfrm>
            <a:off x="10730294" y="6362700"/>
            <a:ext cx="5534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786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/ 24</a:t>
            </a:r>
            <a:endParaRPr lang="zh-CN" sz="1200" dirty="0">
              <a:solidFill>
                <a:srgbClr val="7868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Line 38"/>
          <p:cNvSpPr/>
          <p:nvPr/>
        </p:nvSpPr>
        <p:spPr>
          <a:xfrm>
            <a:off x="904875" y="6229350"/>
            <a:ext cx="10382250" cy="9525"/>
          </a:xfrm>
          <a:custGeom>
            <a:avLst/>
            <a:gdLst/>
            <a:ahLst/>
            <a:cxnLst/>
            <a:rect l="l" t="t" r="r" b="b"/>
            <a:pathLst>
              <a:path w="10382250" h="9525">
                <a:moveTo>
                  <a:pt x="0" y="0"/>
                </a:moveTo>
                <a:lnTo>
                  <a:pt x="10382250" y="0"/>
                </a:lnTo>
              </a:path>
            </a:pathLst>
          </a:custGeom>
          <a:noFill/>
          <a:ln w="9525">
            <a:solidFill>
              <a:srgbClr val="E9DCE3"/>
            </a:solidFill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914400" y="12573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38100">
            <a:solidFill>
              <a:srgbClr val="BE6485"/>
            </a:solidFill>
          </a:ln>
        </p:spPr>
      </p:sp>
      <p:grpSp>
        <p:nvGrpSpPr>
          <p:cNvPr id="4" name="title"/>
          <p:cNvGrpSpPr/>
          <p:nvPr/>
        </p:nvGrpSpPr>
        <p:grpSpPr>
          <a:xfrm>
            <a:off x="897636" y="431768"/>
            <a:ext cx="10477500" cy="645414"/>
            <a:chOff x="897636" y="431768"/>
            <a:chExt cx="10477500" cy="645414"/>
          </a:xfrm>
        </p:grpSpPr>
        <p:sp>
          <p:nvSpPr>
            <p:cNvPr id="3" name="TextBox 3"/>
            <p:cNvSpPr/>
            <p:nvPr/>
          </p:nvSpPr>
          <p:spPr>
            <a:xfrm>
              <a:off x="897636" y="431768"/>
              <a:ext cx="104775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rgbClr val="71364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权限校验与异常恢复</a:t>
              </a:r>
              <a:endParaRPr lang="zh-CN" sz="3300" b="1" dirty="0">
                <a:solidFill>
                  <a:srgbClr val="7136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7" name="Line 7"/>
          <p:cNvSpPr/>
          <p:nvPr/>
        </p:nvSpPr>
        <p:spPr>
          <a:xfrm>
            <a:off x="6096000" y="2305050"/>
            <a:ext cx="9525" cy="3009900"/>
          </a:xfrm>
          <a:custGeom>
            <a:avLst/>
            <a:gdLst/>
            <a:ahLst/>
            <a:cxnLst/>
            <a:rect l="l" t="t" r="r" b="b"/>
            <a:pathLst>
              <a:path w="9525" h="3009900">
                <a:moveTo>
                  <a:pt x="0" y="0"/>
                </a:moveTo>
                <a:lnTo>
                  <a:pt x="0" y="3009900"/>
                </a:lnTo>
              </a:path>
            </a:pathLst>
          </a:custGeom>
          <a:noFill/>
          <a:ln w="9525">
            <a:solidFill>
              <a:srgbClr val="E9DCE3"/>
            </a:solidFill>
          </a:ln>
        </p:spPr>
      </p:sp>
      <p:grpSp>
        <p:nvGrpSpPr>
          <p:cNvPr id="12" name="permissions"/>
          <p:cNvGrpSpPr/>
          <p:nvPr/>
        </p:nvGrpSpPr>
        <p:grpSpPr>
          <a:xfrm>
            <a:off x="902208" y="2336768"/>
            <a:ext cx="3723704" cy="2887218"/>
            <a:chOff x="902208" y="2336768"/>
            <a:chExt cx="3723704" cy="2887218"/>
          </a:xfrm>
        </p:grpSpPr>
        <p:sp>
          <p:nvSpPr>
            <p:cNvPr id="8" name="TextBox 8"/>
            <p:cNvSpPr/>
            <p:nvPr/>
          </p:nvSpPr>
          <p:spPr>
            <a:xfrm>
              <a:off x="902208" y="2336768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71364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访问与用途</a:t>
              </a:r>
              <a:endParaRPr lang="zh-CN" sz="2400" b="1" dirty="0">
                <a:solidFill>
                  <a:srgbClr val="7136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" name="TextBox 9"/>
            <p:cNvSpPr/>
            <p:nvPr/>
          </p:nvSpPr>
          <p:spPr>
            <a:xfrm>
              <a:off x="902208" y="2927318"/>
              <a:ext cx="372370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4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账号 × 入口 × 版本 × 用途</a:t>
              </a:r>
              <a:endParaRPr lang="zh-CN" sz="24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" name="TextBox 10"/>
            <p:cNvSpPr/>
            <p:nvPr/>
          </p:nvSpPr>
          <p:spPr>
            <a:xfrm>
              <a:off x="902208" y="3562350"/>
              <a:ext cx="2660904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24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SAVE / AI / SEARCH</a:t>
              </a:r>
              <a:br>
                <a:rPr lang="en-US" sz="24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24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三类许可相互独立</a:t>
              </a:r>
              <a:endParaRPr lang="zh-CN" sz="24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" name="TextBox 11"/>
            <p:cNvSpPr/>
            <p:nvPr/>
          </p:nvSpPr>
          <p:spPr>
            <a:xfrm>
              <a:off x="903732" y="4813268"/>
              <a:ext cx="34009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SQL参数化，查询绑定归属</a:t>
              </a:r>
              <a:endParaRPr lang="zh-CN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7" name="robustness"/>
          <p:cNvGrpSpPr/>
          <p:nvPr/>
        </p:nvGrpSpPr>
        <p:grpSpPr>
          <a:xfrm>
            <a:off x="6541008" y="2336768"/>
            <a:ext cx="3033617" cy="2887218"/>
            <a:chOff x="6541008" y="2336768"/>
            <a:chExt cx="3033617" cy="2887218"/>
          </a:xfrm>
        </p:grpSpPr>
        <p:sp>
          <p:nvSpPr>
            <p:cNvPr id="13" name="TextBox 13"/>
            <p:cNvSpPr/>
            <p:nvPr/>
          </p:nvSpPr>
          <p:spPr>
            <a:xfrm>
              <a:off x="6541008" y="2336768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71364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取消与一致性</a:t>
              </a:r>
              <a:endParaRPr lang="zh-CN" sz="2400" b="1" dirty="0">
                <a:solidFill>
                  <a:srgbClr val="7136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" name="TextBox 14"/>
            <p:cNvSpPr/>
            <p:nvPr/>
          </p:nvSpPr>
          <p:spPr>
            <a:xfrm>
              <a:off x="6541008" y="2927318"/>
              <a:ext cx="298065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4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会话代次 + 活动代次</a:t>
              </a:r>
              <a:endParaRPr lang="zh-CN" sz="24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5" name="TextBox 15"/>
            <p:cNvSpPr/>
            <p:nvPr/>
          </p:nvSpPr>
          <p:spPr>
            <a:xfrm>
              <a:off x="6541008" y="3562350"/>
              <a:ext cx="2859024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暂停 / 切换 / 退出后</a:t>
              </a:r>
              <a:br>
                <a:rPr lang="zh-CN" sz="24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24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旧结果不回填</a:t>
              </a:r>
              <a:endParaRPr lang="zh-CN" sz="24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TextBox 16"/>
            <p:cNvSpPr/>
            <p:nvPr/>
          </p:nvSpPr>
          <p:spPr>
            <a:xfrm>
              <a:off x="6542532" y="4813268"/>
              <a:ext cx="303209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409读取权威状态再恢复</a:t>
              </a:r>
              <a:endParaRPr lang="zh-CN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21" name="TextBox 21"/>
          <p:cNvSpPr/>
          <p:nvPr/>
        </p:nvSpPr>
        <p:spPr>
          <a:xfrm>
            <a:off x="10730294" y="6362700"/>
            <a:ext cx="5534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786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/ 24</a:t>
            </a:r>
            <a:endParaRPr lang="zh-CN" sz="1200" dirty="0">
              <a:solidFill>
                <a:srgbClr val="7868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Line 36"/>
          <p:cNvSpPr/>
          <p:nvPr/>
        </p:nvSpPr>
        <p:spPr>
          <a:xfrm>
            <a:off x="904875" y="6229350"/>
            <a:ext cx="10382250" cy="9525"/>
          </a:xfrm>
          <a:custGeom>
            <a:avLst/>
            <a:gdLst/>
            <a:ahLst/>
            <a:cxnLst/>
            <a:rect l="l" t="t" r="r" b="b"/>
            <a:pathLst>
              <a:path w="10382250" h="9525">
                <a:moveTo>
                  <a:pt x="0" y="0"/>
                </a:moveTo>
                <a:lnTo>
                  <a:pt x="10382250" y="0"/>
                </a:lnTo>
              </a:path>
            </a:pathLst>
          </a:custGeom>
          <a:noFill/>
          <a:ln w="9525">
            <a:solidFill>
              <a:srgbClr val="E9DCE3"/>
            </a:solidFill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914400" y="12573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38100">
            <a:solidFill>
              <a:srgbClr val="BE6485"/>
            </a:solidFill>
          </a:ln>
        </p:spPr>
      </p:sp>
      <p:grpSp>
        <p:nvGrpSpPr>
          <p:cNvPr id="4" name="title"/>
          <p:cNvGrpSpPr/>
          <p:nvPr/>
        </p:nvGrpSpPr>
        <p:grpSpPr>
          <a:xfrm>
            <a:off x="897636" y="431768"/>
            <a:ext cx="10477500" cy="645414"/>
            <a:chOff x="897636" y="431768"/>
            <a:chExt cx="10477500" cy="645414"/>
          </a:xfrm>
        </p:grpSpPr>
        <p:sp>
          <p:nvSpPr>
            <p:cNvPr id="3" name="TextBox 3"/>
            <p:cNvSpPr/>
            <p:nvPr/>
          </p:nvSpPr>
          <p:spPr>
            <a:xfrm>
              <a:off x="897636" y="431768"/>
              <a:ext cx="104775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rgbClr val="71364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类图：从职责分析细化到工程接口</a:t>
              </a:r>
              <a:endParaRPr lang="zh-CN" sz="3300" b="1" dirty="0">
                <a:solidFill>
                  <a:srgbClr val="7136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2" name="repository-change"/>
          <p:cNvGrpSpPr/>
          <p:nvPr/>
        </p:nvGrpSpPr>
        <p:grpSpPr>
          <a:xfrm>
            <a:off x="903732" y="2355818"/>
            <a:ext cx="9575673" cy="849821"/>
            <a:chOff x="903732" y="2355818"/>
            <a:chExt cx="9575673" cy="849821"/>
          </a:xfrm>
        </p:grpSpPr>
        <p:sp>
          <p:nvSpPr>
            <p:cNvPr id="7" name="TextBox 7"/>
            <p:cNvSpPr/>
            <p:nvPr/>
          </p:nvSpPr>
          <p:spPr>
            <a:xfrm>
              <a:off x="903732" y="2355818"/>
              <a:ext cx="317049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en-US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LocalRecordRepository</a:t>
              </a:r>
              <a:endParaRPr lang="en-US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" name="Line 8"/>
            <p:cNvSpPr/>
            <p:nvPr/>
          </p:nvSpPr>
          <p:spPr>
            <a:xfrm>
              <a:off x="4514850" y="2533650"/>
              <a:ext cx="1771650" cy="0"/>
            </a:xfrm>
            <a:prstGeom prst="line">
              <a:avLst/>
            </a:prstGeom>
            <a:noFill/>
            <a:ln w="19050">
              <a:solidFill>
                <a:srgbClr val="342B33"/>
              </a:solidFill>
              <a:tailEnd type="arrow" w="lg" len="lg"/>
            </a:ln>
          </p:spPr>
        </p:sp>
        <p:sp>
          <p:nvSpPr>
            <p:cNvPr id="9" name="TextBox 9"/>
            <p:cNvSpPr/>
            <p:nvPr/>
          </p:nvSpPr>
          <p:spPr>
            <a:xfrm>
              <a:off x="6771132" y="2355818"/>
              <a:ext cx="370827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en-US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PostgresRecordRepository</a:t>
              </a:r>
              <a:endParaRPr lang="en-US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" name="TextBox 10"/>
            <p:cNvSpPr/>
            <p:nvPr/>
          </p:nvSpPr>
          <p:spPr>
            <a:xfrm>
              <a:off x="906018" y="288293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78687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历史本地实现名</a:t>
              </a:r>
              <a:endParaRPr lang="zh-CN" sz="1650" dirty="0">
                <a:solidFill>
                  <a:srgbClr val="786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" name="TextBox 11"/>
            <p:cNvSpPr/>
            <p:nvPr/>
          </p:nvSpPr>
          <p:spPr>
            <a:xfrm>
              <a:off x="6773418" y="2882932"/>
              <a:ext cx="21999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78687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当前PostgreSQL基线</a:t>
              </a:r>
              <a:endParaRPr lang="zh-CN" sz="1650" dirty="0">
                <a:solidFill>
                  <a:srgbClr val="786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3" name="class-chain"/>
          <p:cNvGrpSpPr/>
          <p:nvPr/>
        </p:nvGrpSpPr>
        <p:grpSpPr>
          <a:xfrm>
            <a:off x="933450" y="3581400"/>
            <a:ext cx="10325100" cy="1453039"/>
            <a:chOff x="933450" y="3581400"/>
            <a:chExt cx="10325100" cy="1453039"/>
          </a:xfrm>
        </p:grpSpPr>
        <p:sp>
          <p:nvSpPr>
            <p:cNvPr id="13" name="Line 13"/>
            <p:cNvSpPr/>
            <p:nvPr/>
          </p:nvSpPr>
          <p:spPr>
            <a:xfrm>
              <a:off x="5372100" y="4095750"/>
              <a:ext cx="1257300" cy="0"/>
            </a:xfrm>
            <a:prstGeom prst="line">
              <a:avLst/>
            </a:prstGeom>
            <a:noFill/>
            <a:ln w="19050">
              <a:solidFill>
                <a:srgbClr val="342B33"/>
              </a:solidFill>
              <a:custDash>
                <a:ds d="300000" sp="200000"/>
              </a:custDash>
              <a:tailEnd type="arrow" w="lg" len="lg"/>
            </a:ln>
          </p:spPr>
        </p:sp>
        <p:sp>
          <p:nvSpPr>
            <p:cNvPr id="14" name="Rectangle 14"/>
            <p:cNvSpPr/>
            <p:nvPr/>
          </p:nvSpPr>
          <p:spPr>
            <a:xfrm>
              <a:off x="933450" y="3581400"/>
              <a:ext cx="4419600" cy="1447800"/>
            </a:xfrm>
            <a:prstGeom prst="rect">
              <a:avLst/>
            </a:prstGeom>
            <a:noFill/>
            <a:ln w="14288">
              <a:solidFill>
                <a:srgbClr val="786873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933450" y="4114800"/>
              <a:ext cx="4419600" cy="9525"/>
            </a:xfrm>
            <a:custGeom>
              <a:avLst/>
              <a:gdLst/>
              <a:ahLst/>
              <a:cxnLst/>
              <a:rect l="l" t="t" r="r" b="b"/>
              <a:pathLst>
                <a:path w="4419600" h="9525">
                  <a:moveTo>
                    <a:pt x="0" y="0"/>
                  </a:moveTo>
                  <a:lnTo>
                    <a:pt x="4419600" y="0"/>
                  </a:lnTo>
                </a:path>
              </a:pathLst>
            </a:custGeom>
            <a:noFill/>
            <a:ln w="9525">
              <a:solidFill>
                <a:srgbClr val="786873"/>
              </a:solidFill>
            </a:ln>
          </p:spPr>
        </p:sp>
        <p:sp>
          <p:nvSpPr>
            <p:cNvPr id="16" name="TextBox 16"/>
            <p:cNvSpPr/>
            <p:nvPr/>
          </p:nvSpPr>
          <p:spPr>
            <a:xfrm>
              <a:off x="1132332" y="3689318"/>
              <a:ext cx="33390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en-US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AgentApplicationService</a:t>
              </a:r>
              <a:endParaRPr lang="en-US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" name="TextBox 17"/>
            <p:cNvSpPr/>
            <p:nvPr/>
          </p:nvSpPr>
          <p:spPr>
            <a:xfrm>
              <a:off x="1132332" y="4241768"/>
              <a:ext cx="3048381" cy="791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>
                <a:lnSpc>
                  <a:spcPts val="3000"/>
                </a:lnSpc>
              </a:pPr>
              <a:r>
                <a:rPr lang="en-US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+ createTask / getTask</a:t>
              </a:r>
              <a:br>
                <a:rPr lang="en-US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en-US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+ cancelTask</a:t>
              </a:r>
              <a:endParaRPr lang="en-US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667500" y="3581400"/>
              <a:ext cx="4591050" cy="1447800"/>
            </a:xfrm>
            <a:prstGeom prst="rect">
              <a:avLst/>
            </a:prstGeom>
            <a:noFill/>
            <a:ln w="14288">
              <a:solidFill>
                <a:srgbClr val="786873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6667500" y="4114800"/>
              <a:ext cx="4591050" cy="9525"/>
            </a:xfrm>
            <a:custGeom>
              <a:avLst/>
              <a:gdLst/>
              <a:ahLst/>
              <a:cxnLst/>
              <a:rect l="l" t="t" r="r" b="b"/>
              <a:pathLst>
                <a:path w="4591050" h="9525">
                  <a:moveTo>
                    <a:pt x="0" y="0"/>
                  </a:moveTo>
                  <a:lnTo>
                    <a:pt x="4591050" y="0"/>
                  </a:lnTo>
                </a:path>
              </a:pathLst>
            </a:custGeom>
            <a:noFill/>
            <a:ln w="9525">
              <a:solidFill>
                <a:srgbClr val="786873"/>
              </a:solidFill>
            </a:ln>
          </p:spPr>
        </p:sp>
        <p:sp>
          <p:nvSpPr>
            <p:cNvPr id="20" name="TextBox 20"/>
            <p:cNvSpPr/>
            <p:nvPr/>
          </p:nvSpPr>
          <p:spPr>
            <a:xfrm>
              <a:off x="6866382" y="3689318"/>
              <a:ext cx="27962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en-US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AIProcessingService</a:t>
              </a:r>
              <a:endParaRPr lang="en-US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1" name="TextBox 21"/>
            <p:cNvSpPr/>
            <p:nvPr/>
          </p:nvSpPr>
          <p:spPr>
            <a:xfrm>
              <a:off x="6866382" y="4279868"/>
              <a:ext cx="253736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en-US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+ respond / cancel</a:t>
              </a:r>
              <a:endParaRPr lang="en-US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" name="TextBox 22"/>
            <p:cNvSpPr/>
            <p:nvPr/>
          </p:nvSpPr>
          <p:spPr>
            <a:xfrm>
              <a:off x="6868668" y="4711732"/>
              <a:ext cx="306590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78687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经AIClient端口连接模型适配器</a:t>
              </a:r>
              <a:endParaRPr lang="zh-CN" sz="1650" dirty="0">
                <a:solidFill>
                  <a:srgbClr val="786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27" name="TextBox 27"/>
          <p:cNvSpPr/>
          <p:nvPr/>
        </p:nvSpPr>
        <p:spPr>
          <a:xfrm>
            <a:off x="10730294" y="6362700"/>
            <a:ext cx="5534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786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/ 24</a:t>
            </a:r>
            <a:endParaRPr lang="zh-CN" sz="1200" dirty="0">
              <a:solidFill>
                <a:srgbClr val="7868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Line 43"/>
          <p:cNvSpPr/>
          <p:nvPr/>
        </p:nvSpPr>
        <p:spPr>
          <a:xfrm>
            <a:off x="904875" y="6229350"/>
            <a:ext cx="10382250" cy="9525"/>
          </a:xfrm>
          <a:custGeom>
            <a:avLst/>
            <a:gdLst/>
            <a:ahLst/>
            <a:cxnLst/>
            <a:rect l="l" t="t" r="r" b="b"/>
            <a:pathLst>
              <a:path w="10382250" h="9525">
                <a:moveTo>
                  <a:pt x="0" y="0"/>
                </a:moveTo>
                <a:lnTo>
                  <a:pt x="10382250" y="0"/>
                </a:lnTo>
              </a:path>
            </a:pathLst>
          </a:custGeom>
          <a:noFill/>
          <a:ln w="9525">
            <a:solidFill>
              <a:srgbClr val="E9DCE3"/>
            </a:solidFill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914400" y="12573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38100">
            <a:solidFill>
              <a:srgbClr val="BE6485"/>
            </a:solidFill>
          </a:ln>
        </p:spPr>
      </p:sp>
      <p:grpSp>
        <p:nvGrpSpPr>
          <p:cNvPr id="4" name="title"/>
          <p:cNvGrpSpPr/>
          <p:nvPr/>
        </p:nvGrpSpPr>
        <p:grpSpPr>
          <a:xfrm>
            <a:off x="897636" y="431768"/>
            <a:ext cx="10477500" cy="645414"/>
            <a:chOff x="897636" y="431768"/>
            <a:chExt cx="10477500" cy="645414"/>
          </a:xfrm>
        </p:grpSpPr>
        <p:sp>
          <p:nvSpPr>
            <p:cNvPr id="3" name="TextBox 3"/>
            <p:cNvSpPr/>
            <p:nvPr/>
          </p:nvSpPr>
          <p:spPr>
            <a:xfrm>
              <a:off x="897636" y="431768"/>
              <a:ext cx="104775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rgbClr val="71364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类图：Agent与模型端口</a:t>
              </a:r>
              <a:endParaRPr lang="zh-CN" sz="3300" b="1" dirty="0">
                <a:solidFill>
                  <a:srgbClr val="7136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0" name="agent-class-diagram"/>
          <p:cNvGrpSpPr/>
          <p:nvPr/>
        </p:nvGrpSpPr>
        <p:grpSpPr>
          <a:xfrm>
            <a:off x="933450" y="2324100"/>
            <a:ext cx="10325100" cy="3015139"/>
            <a:chOff x="933450" y="2324100"/>
            <a:chExt cx="10325100" cy="3015139"/>
          </a:xfrm>
        </p:grpSpPr>
        <p:sp>
          <p:nvSpPr>
            <p:cNvPr id="7" name="Line 7"/>
            <p:cNvSpPr/>
            <p:nvPr/>
          </p:nvSpPr>
          <p:spPr>
            <a:xfrm>
              <a:off x="5505450" y="2990850"/>
              <a:ext cx="1257300" cy="0"/>
            </a:xfrm>
            <a:prstGeom prst="line">
              <a:avLst/>
            </a:prstGeom>
            <a:noFill/>
            <a:ln w="19050">
              <a:solidFill>
                <a:srgbClr val="342B33"/>
              </a:solidFill>
              <a:custDash>
                <a:ds d="300000" sp="200000"/>
              </a:custDash>
              <a:tailEnd type="arrow" w="lg" len="lg"/>
            </a:ln>
          </p:spPr>
        </p:sp>
        <p:sp>
          <p:nvSpPr>
            <p:cNvPr id="8" name="Line 8"/>
            <p:cNvSpPr/>
            <p:nvPr/>
          </p:nvSpPr>
          <p:spPr>
            <a:xfrm>
              <a:off x="9029700" y="3714750"/>
              <a:ext cx="9525" cy="533400"/>
            </a:xfrm>
            <a:custGeom>
              <a:avLst/>
              <a:gdLst/>
              <a:ahLst/>
              <a:cxnLst/>
              <a:rect l="l" t="t" r="r" b="b"/>
              <a:pathLst>
                <a:path w="9525" h="533400">
                  <a:moveTo>
                    <a:pt x="0" y="0"/>
                  </a:moveTo>
                  <a:lnTo>
                    <a:pt x="0" y="533400"/>
                  </a:lnTo>
                </a:path>
              </a:pathLst>
            </a:custGeom>
            <a:noFill/>
            <a:ln w="19050">
              <a:solidFill>
                <a:srgbClr val="352C34"/>
              </a:solidFill>
            </a:ln>
          </p:spPr>
        </p:sp>
        <p:sp>
          <p:nvSpPr>
            <p:cNvPr id="9" name="TextBox 9"/>
            <p:cNvSpPr/>
            <p:nvPr/>
          </p:nvSpPr>
          <p:spPr>
            <a:xfrm>
              <a:off x="9192768" y="3721132"/>
              <a:ext cx="5053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0..*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" name="TextBox 10"/>
            <p:cNvSpPr/>
            <p:nvPr/>
          </p:nvSpPr>
          <p:spPr>
            <a:xfrm>
              <a:off x="9192768" y="3968782"/>
              <a:ext cx="1389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" name="Line 11"/>
            <p:cNvSpPr/>
            <p:nvPr/>
          </p:nvSpPr>
          <p:spPr>
            <a:xfrm>
              <a:off x="5505450" y="4895850"/>
              <a:ext cx="1009650" cy="9525"/>
            </a:xfrm>
            <a:custGeom>
              <a:avLst/>
              <a:gdLst/>
              <a:ahLst/>
              <a:cxnLst/>
              <a:rect l="l" t="t" r="r" b="b"/>
              <a:pathLst>
                <a:path w="1009650" h="9525">
                  <a:moveTo>
                    <a:pt x="0" y="0"/>
                  </a:moveTo>
                  <a:lnTo>
                    <a:pt x="1009650" y="0"/>
                  </a:lnTo>
                </a:path>
              </a:pathLst>
            </a:custGeom>
            <a:noFill/>
            <a:ln w="19050">
              <a:solidFill>
                <a:srgbClr val="352C34"/>
              </a:solidFill>
              <a:custDash>
                <a:ds d="300000" sp="200000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 rot="5400000">
              <a:off x="6515100" y="4762500"/>
              <a:ext cx="266700" cy="266700"/>
            </a:xfrm>
            <a:prstGeom prst="triangle">
              <a:avLst/>
            </a:prstGeom>
            <a:noFill/>
            <a:ln w="19050">
              <a:solidFill>
                <a:srgbClr val="352C34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933450" y="2324100"/>
              <a:ext cx="4552950" cy="1390650"/>
            </a:xfrm>
            <a:prstGeom prst="rect">
              <a:avLst/>
            </a:prstGeom>
            <a:noFill/>
            <a:ln w="14288">
              <a:solidFill>
                <a:srgbClr val="786873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933450" y="2819400"/>
              <a:ext cx="4552950" cy="9525"/>
            </a:xfrm>
            <a:custGeom>
              <a:avLst/>
              <a:gdLst/>
              <a:ahLst/>
              <a:cxnLst/>
              <a:rect l="l" t="t" r="r" b="b"/>
              <a:pathLst>
                <a:path w="4552950" h="9525">
                  <a:moveTo>
                    <a:pt x="0" y="0"/>
                  </a:moveTo>
                  <a:lnTo>
                    <a:pt x="4552950" y="0"/>
                  </a:lnTo>
                </a:path>
              </a:pathLst>
            </a:custGeom>
            <a:noFill/>
            <a:ln w="9525">
              <a:solidFill>
                <a:srgbClr val="786873"/>
              </a:solidFill>
            </a:ln>
          </p:spPr>
        </p:sp>
        <p:sp>
          <p:nvSpPr>
            <p:cNvPr id="15" name="TextBox 15"/>
            <p:cNvSpPr/>
            <p:nvPr/>
          </p:nvSpPr>
          <p:spPr>
            <a:xfrm>
              <a:off x="1132332" y="2412968"/>
              <a:ext cx="33390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en-US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AgentApplicationService</a:t>
              </a:r>
              <a:endParaRPr lang="en-US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TextBox 16"/>
            <p:cNvSpPr/>
            <p:nvPr/>
          </p:nvSpPr>
          <p:spPr>
            <a:xfrm>
              <a:off x="1132332" y="2876550"/>
              <a:ext cx="3048381" cy="8107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3150"/>
                </a:lnSpc>
              </a:pPr>
              <a:r>
                <a:rPr lang="en-US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+ createTask / getTask</a:t>
              </a:r>
              <a:br>
                <a:rPr lang="en-US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en-US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+ cancelTask</a:t>
              </a:r>
              <a:endParaRPr lang="en-US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800850" y="2324100"/>
              <a:ext cx="4457700" cy="1390650"/>
            </a:xfrm>
            <a:prstGeom prst="rect">
              <a:avLst/>
            </a:prstGeom>
            <a:noFill/>
            <a:ln w="14288">
              <a:solidFill>
                <a:srgbClr val="786873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6800850" y="2819400"/>
              <a:ext cx="4457700" cy="9525"/>
            </a:xfrm>
            <a:custGeom>
              <a:avLst/>
              <a:gdLst/>
              <a:ahLst/>
              <a:cxnLst/>
              <a:rect l="l" t="t" r="r" b="b"/>
              <a:pathLst>
                <a:path w="4457700" h="9525">
                  <a:moveTo>
                    <a:pt x="0" y="0"/>
                  </a:moveTo>
                  <a:lnTo>
                    <a:pt x="4457700" y="0"/>
                  </a:lnTo>
                </a:path>
              </a:pathLst>
            </a:custGeom>
            <a:noFill/>
            <a:ln w="9525">
              <a:solidFill>
                <a:srgbClr val="786873"/>
              </a:solidFill>
            </a:ln>
          </p:spPr>
        </p:sp>
        <p:sp>
          <p:nvSpPr>
            <p:cNvPr id="19" name="TextBox 19"/>
            <p:cNvSpPr/>
            <p:nvPr/>
          </p:nvSpPr>
          <p:spPr>
            <a:xfrm>
              <a:off x="6999732" y="2412968"/>
              <a:ext cx="27962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en-US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AIProcessingService</a:t>
              </a:r>
              <a:endParaRPr lang="en-US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0" name="TextBox 20"/>
            <p:cNvSpPr/>
            <p:nvPr/>
          </p:nvSpPr>
          <p:spPr>
            <a:xfrm>
              <a:off x="6999732" y="2927318"/>
              <a:ext cx="253736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en-US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+ respond / cancel</a:t>
              </a:r>
              <a:endParaRPr lang="en-US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1" name="TextBox 21"/>
            <p:cNvSpPr/>
            <p:nvPr/>
          </p:nvSpPr>
          <p:spPr>
            <a:xfrm>
              <a:off x="7002018" y="33782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78687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许可、上下文与安全编排</a:t>
              </a:r>
              <a:endParaRPr lang="zh-CN" sz="1650" dirty="0">
                <a:solidFill>
                  <a:srgbClr val="786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33450" y="4248150"/>
              <a:ext cx="4552950" cy="1066800"/>
            </a:xfrm>
            <a:prstGeom prst="rect">
              <a:avLst/>
            </a:prstGeom>
            <a:noFill/>
            <a:ln w="14288">
              <a:solidFill>
                <a:srgbClr val="786873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933450" y="4743450"/>
              <a:ext cx="4552950" cy="9525"/>
            </a:xfrm>
            <a:custGeom>
              <a:avLst/>
              <a:gdLst/>
              <a:ahLst/>
              <a:cxnLst/>
              <a:rect l="l" t="t" r="r" b="b"/>
              <a:pathLst>
                <a:path w="4552950" h="9525">
                  <a:moveTo>
                    <a:pt x="0" y="0"/>
                  </a:moveTo>
                  <a:lnTo>
                    <a:pt x="4552950" y="0"/>
                  </a:lnTo>
                </a:path>
              </a:pathLst>
            </a:custGeom>
            <a:noFill/>
            <a:ln w="9525">
              <a:solidFill>
                <a:srgbClr val="786873"/>
              </a:solidFill>
            </a:ln>
          </p:spPr>
        </p:sp>
        <p:sp>
          <p:nvSpPr>
            <p:cNvPr id="24" name="TextBox 24"/>
            <p:cNvSpPr/>
            <p:nvPr/>
          </p:nvSpPr>
          <p:spPr>
            <a:xfrm>
              <a:off x="1132332" y="4337018"/>
              <a:ext cx="323602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en-US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LangChainModelAdapter</a:t>
              </a:r>
              <a:endParaRPr lang="en-US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5" name="TextBox 25"/>
            <p:cNvSpPr/>
            <p:nvPr/>
          </p:nvSpPr>
          <p:spPr>
            <a:xfrm>
              <a:off x="1132332" y="4889468"/>
              <a:ext cx="253736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en-US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+ respond / cancel</a:t>
              </a:r>
              <a:endParaRPr lang="en-US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800850" y="4248150"/>
              <a:ext cx="4457700" cy="1066800"/>
            </a:xfrm>
            <a:prstGeom prst="rect">
              <a:avLst/>
            </a:prstGeom>
            <a:noFill/>
            <a:ln w="14288">
              <a:solidFill>
                <a:srgbClr val="786873"/>
              </a:solidFill>
            </a:ln>
          </p:spPr>
        </p:sp>
        <p:sp>
          <p:nvSpPr>
            <p:cNvPr id="27" name="TextBox 27"/>
            <p:cNvSpPr/>
            <p:nvPr/>
          </p:nvSpPr>
          <p:spPr>
            <a:xfrm>
              <a:off x="8377142" y="4330732"/>
              <a:ext cx="13051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en-US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«interface»</a:t>
              </a:r>
              <a:endParaRPr lang="en-US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8" name="TextBox 28"/>
            <p:cNvSpPr/>
            <p:nvPr/>
          </p:nvSpPr>
          <p:spPr>
            <a:xfrm>
              <a:off x="8492109" y="4660868"/>
              <a:ext cx="107508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5" tIns="32" rIns="0" bIns="0" anchor="t" anchorCtr="0">
              <a:noAutofit/>
            </a:bodyPr>
            <a:lstStyle/>
            <a:p>
              <a:pPr algn="ctr"/>
              <a:r>
                <a:rPr lang="en-US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AIClient</a:t>
              </a:r>
              <a:endParaRPr lang="en-US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9" name="TextBox 29"/>
            <p:cNvSpPr/>
            <p:nvPr/>
          </p:nvSpPr>
          <p:spPr>
            <a:xfrm>
              <a:off x="7215473" y="5016532"/>
              <a:ext cx="3628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en-US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respond(AIRequest) → AIResponse</a:t>
              </a:r>
              <a:endParaRPr lang="en-US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2" name="boundary"/>
          <p:cNvGrpSpPr/>
          <p:nvPr/>
        </p:nvGrpSpPr>
        <p:grpSpPr>
          <a:xfrm>
            <a:off x="902208" y="5651468"/>
            <a:ext cx="9175718" cy="469392"/>
            <a:chOff x="902208" y="5651468"/>
            <a:chExt cx="9175718" cy="469392"/>
          </a:xfrm>
        </p:grpSpPr>
        <p:sp>
          <p:nvSpPr>
            <p:cNvPr id="31" name="TextBox 31"/>
            <p:cNvSpPr/>
            <p:nvPr/>
          </p:nvSpPr>
          <p:spPr>
            <a:xfrm>
              <a:off x="902208" y="5651468"/>
              <a:ext cx="917571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4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HTTP任务信封归门面；模型端口不承接轮询状态与页面生命周期</a:t>
              </a:r>
              <a:endParaRPr lang="zh-CN" sz="24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34" name="TextBox 34"/>
          <p:cNvSpPr/>
          <p:nvPr/>
        </p:nvSpPr>
        <p:spPr>
          <a:xfrm>
            <a:off x="10511980" y="6362700"/>
            <a:ext cx="77171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786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/ 24</a:t>
            </a:r>
            <a:endParaRPr lang="zh-CN" sz="1200" dirty="0">
              <a:solidFill>
                <a:srgbClr val="7868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Line 53"/>
          <p:cNvSpPr/>
          <p:nvPr/>
        </p:nvSpPr>
        <p:spPr>
          <a:xfrm>
            <a:off x="904875" y="6229350"/>
            <a:ext cx="10382250" cy="9525"/>
          </a:xfrm>
          <a:custGeom>
            <a:avLst/>
            <a:gdLst/>
            <a:ahLst/>
            <a:cxnLst/>
            <a:rect l="l" t="t" r="r" b="b"/>
            <a:pathLst>
              <a:path w="10382250" h="9525">
                <a:moveTo>
                  <a:pt x="0" y="0"/>
                </a:moveTo>
                <a:lnTo>
                  <a:pt x="10382250" y="0"/>
                </a:lnTo>
              </a:path>
            </a:pathLst>
          </a:custGeom>
          <a:noFill/>
          <a:ln w="9525">
            <a:solidFill>
              <a:srgbClr val="E9DCE3"/>
            </a:solidFill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914400" y="12573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38100">
            <a:solidFill>
              <a:srgbClr val="BE6485"/>
            </a:solidFill>
          </a:ln>
        </p:spPr>
      </p:sp>
      <p:grpSp>
        <p:nvGrpSpPr>
          <p:cNvPr id="4" name="title"/>
          <p:cNvGrpSpPr/>
          <p:nvPr/>
        </p:nvGrpSpPr>
        <p:grpSpPr>
          <a:xfrm>
            <a:off x="897636" y="431768"/>
            <a:ext cx="10477500" cy="645414"/>
            <a:chOff x="897636" y="431768"/>
            <a:chExt cx="10477500" cy="645414"/>
          </a:xfrm>
        </p:grpSpPr>
        <p:sp>
          <p:nvSpPr>
            <p:cNvPr id="3" name="TextBox 3"/>
            <p:cNvSpPr/>
            <p:nvPr/>
          </p:nvSpPr>
          <p:spPr>
            <a:xfrm>
              <a:off x="897636" y="431768"/>
              <a:ext cx="104775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rgbClr val="71364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类图：双代次与持久幂等</a:t>
              </a:r>
              <a:endParaRPr lang="zh-CN" sz="3300" b="1" dirty="0">
                <a:solidFill>
                  <a:srgbClr val="7136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4" name="pending-request"/>
          <p:cNvGrpSpPr/>
          <p:nvPr/>
        </p:nvGrpSpPr>
        <p:grpSpPr>
          <a:xfrm>
            <a:off x="933450" y="2324100"/>
            <a:ext cx="4686300" cy="3048000"/>
            <a:chOff x="933450" y="2324100"/>
            <a:chExt cx="4686300" cy="3048000"/>
          </a:xfrm>
        </p:grpSpPr>
        <p:sp>
          <p:nvSpPr>
            <p:cNvPr id="7" name="Rectangle 7"/>
            <p:cNvSpPr/>
            <p:nvPr/>
          </p:nvSpPr>
          <p:spPr>
            <a:xfrm>
              <a:off x="933450" y="2324100"/>
              <a:ext cx="4686300" cy="3048000"/>
            </a:xfrm>
            <a:prstGeom prst="rect">
              <a:avLst/>
            </a:prstGeom>
            <a:noFill/>
            <a:ln w="14288">
              <a:solidFill>
                <a:srgbClr val="786873"/>
              </a:solidFill>
            </a:ln>
          </p:spPr>
        </p:sp>
        <p:sp>
          <p:nvSpPr>
            <p:cNvPr id="8" name="TextBox 8"/>
            <p:cNvSpPr/>
            <p:nvPr/>
          </p:nvSpPr>
          <p:spPr>
            <a:xfrm>
              <a:off x="1132332" y="2451068"/>
              <a:ext cx="225066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en-US" sz="2100" b="1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PendingRequest</a:t>
              </a:r>
              <a:endParaRPr lang="en-US" sz="2100" b="1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" name="Line 9"/>
            <p:cNvSpPr/>
            <p:nvPr/>
          </p:nvSpPr>
          <p:spPr>
            <a:xfrm>
              <a:off x="933450" y="2895600"/>
              <a:ext cx="4686300" cy="9525"/>
            </a:xfrm>
            <a:custGeom>
              <a:avLst/>
              <a:gdLst/>
              <a:ahLst/>
              <a:cxnLst/>
              <a:rect l="l" t="t" r="r" b="b"/>
              <a:pathLst>
                <a:path w="4686300" h="9525">
                  <a:moveTo>
                    <a:pt x="0" y="0"/>
                  </a:moveTo>
                  <a:lnTo>
                    <a:pt x="4686300" y="0"/>
                  </a:lnTo>
                </a:path>
              </a:pathLst>
            </a:custGeom>
            <a:noFill/>
            <a:ln w="9525">
              <a:solidFill>
                <a:srgbClr val="78687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1132332" y="2997232"/>
              <a:ext cx="2688336" cy="14965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>
                <a:lnSpc>
                  <a:spcPts val="2850"/>
                </a:lnSpc>
              </a:pPr>
              <a:r>
                <a:rPr lang="en-US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- sessionGeneration</a:t>
              </a:r>
              <a:endParaRPr lang="en-US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>
                <a:lnSpc>
                  <a:spcPts val="2850"/>
                </a:lnSpc>
              </a:pPr>
              <a:r>
                <a:rPr lang="en-US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- activityGeneration</a:t>
              </a:r>
              <a:endParaRPr lang="en-US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>
                <a:lnSpc>
                  <a:spcPts val="2850"/>
                </a:lnSpc>
              </a:pPr>
              <a:r>
                <a:rPr lang="en-US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- account / login</a:t>
              </a:r>
              <a:endParaRPr lang="en-US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>
                <a:lnSpc>
                  <a:spcPts val="2850"/>
                </a:lnSpc>
              </a:pPr>
              <a:r>
                <a:rPr lang="en-US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- entry / device</a:t>
              </a:r>
              <a:endParaRPr lang="en-US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" name="Line 11"/>
            <p:cNvSpPr/>
            <p:nvPr/>
          </p:nvSpPr>
          <p:spPr>
            <a:xfrm>
              <a:off x="933450" y="4533900"/>
              <a:ext cx="4686300" cy="9525"/>
            </a:xfrm>
            <a:custGeom>
              <a:avLst/>
              <a:gdLst/>
              <a:ahLst/>
              <a:cxnLst/>
              <a:rect l="l" t="t" r="r" b="b"/>
              <a:pathLst>
                <a:path w="4686300" h="9525">
                  <a:moveTo>
                    <a:pt x="0" y="0"/>
                  </a:moveTo>
                  <a:lnTo>
                    <a:pt x="4686300" y="0"/>
                  </a:lnTo>
                </a:path>
              </a:pathLst>
            </a:custGeom>
            <a:noFill/>
            <a:ln w="9525">
              <a:solidFill>
                <a:srgbClr val="786873"/>
              </a:solidFill>
            </a:ln>
          </p:spPr>
        </p:sp>
        <p:sp>
          <p:nvSpPr>
            <p:cNvPr id="12" name="TextBox 12"/>
            <p:cNvSpPr/>
            <p:nvPr/>
          </p:nvSpPr>
          <p:spPr>
            <a:xfrm>
              <a:off x="1132332" y="4641818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en-US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+ cancel()</a:t>
              </a:r>
              <a:endParaRPr lang="en-US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" name="TextBox 13"/>
            <p:cNvSpPr/>
            <p:nvPr/>
          </p:nvSpPr>
          <p:spPr>
            <a:xfrm>
              <a:off x="1134618" y="503558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78687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匹配全部绑定项后才接纳结果</a:t>
              </a:r>
              <a:endParaRPr lang="zh-CN" sz="1650" dirty="0">
                <a:solidFill>
                  <a:srgbClr val="786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6" name="idempotency"/>
          <p:cNvGrpSpPr/>
          <p:nvPr/>
        </p:nvGrpSpPr>
        <p:grpSpPr>
          <a:xfrm>
            <a:off x="6542532" y="2393918"/>
            <a:ext cx="4716018" cy="2940082"/>
            <a:chOff x="6542532" y="2393918"/>
            <a:chExt cx="4716018" cy="2940082"/>
          </a:xfrm>
        </p:grpSpPr>
        <p:sp>
          <p:nvSpPr>
            <p:cNvPr id="15" name="TextBox 15"/>
            <p:cNvSpPr/>
            <p:nvPr/>
          </p:nvSpPr>
          <p:spPr>
            <a:xfrm>
              <a:off x="6542532" y="2393918"/>
              <a:ext cx="19890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en-US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RecordService</a:t>
              </a:r>
              <a:endParaRPr lang="en-US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Line 16"/>
            <p:cNvSpPr/>
            <p:nvPr/>
          </p:nvSpPr>
          <p:spPr>
            <a:xfrm>
              <a:off x="8324850" y="2819400"/>
              <a:ext cx="0" cy="285750"/>
            </a:xfrm>
            <a:prstGeom prst="line">
              <a:avLst/>
            </a:prstGeom>
            <a:noFill/>
            <a:ln w="19050">
              <a:solidFill>
                <a:srgbClr val="342B33"/>
              </a:solidFill>
              <a:custDash>
                <a:ds d="300000" sp="200000"/>
              </a:custDash>
              <a:tailEnd type="arrow" w="lg" len="lg"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572250" y="3143250"/>
              <a:ext cx="4686300" cy="876300"/>
            </a:xfrm>
            <a:prstGeom prst="rect">
              <a:avLst/>
            </a:prstGeom>
            <a:noFill/>
            <a:ln w="14288">
              <a:solidFill>
                <a:srgbClr val="786873"/>
              </a:solidFill>
            </a:ln>
          </p:spPr>
        </p:sp>
        <p:sp>
          <p:nvSpPr>
            <p:cNvPr id="18" name="TextBox 18"/>
            <p:cNvSpPr/>
            <p:nvPr/>
          </p:nvSpPr>
          <p:spPr>
            <a:xfrm>
              <a:off x="6771132" y="3251168"/>
              <a:ext cx="27523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en-US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IdempotencyService</a:t>
              </a:r>
              <a:endParaRPr lang="en-US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" name="TextBox 19"/>
            <p:cNvSpPr/>
            <p:nvPr/>
          </p:nvSpPr>
          <p:spPr>
            <a:xfrm>
              <a:off x="6773418" y="3663982"/>
              <a:ext cx="30376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en-US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+ begin / resolve / complete</a:t>
              </a:r>
              <a:endParaRPr lang="en-US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0" name="Line 20"/>
            <p:cNvSpPr/>
            <p:nvPr/>
          </p:nvSpPr>
          <p:spPr>
            <a:xfrm>
              <a:off x="8324850" y="4019550"/>
              <a:ext cx="9525" cy="438150"/>
            </a:xfrm>
            <a:custGeom>
              <a:avLst/>
              <a:gdLst/>
              <a:ahLst/>
              <a:cxnLst/>
              <a:rect l="l" t="t" r="r" b="b"/>
              <a:pathLst>
                <a:path w="9525" h="438150">
                  <a:moveTo>
                    <a:pt x="0" y="0"/>
                  </a:moveTo>
                  <a:lnTo>
                    <a:pt x="0" y="438150"/>
                  </a:lnTo>
                </a:path>
              </a:pathLst>
            </a:custGeom>
            <a:noFill/>
            <a:ln w="19050">
              <a:solidFill>
                <a:srgbClr val="352C34"/>
              </a:solidFill>
            </a:ln>
          </p:spPr>
        </p:sp>
        <p:sp>
          <p:nvSpPr>
            <p:cNvPr id="21" name="TextBox 21"/>
            <p:cNvSpPr/>
            <p:nvPr/>
          </p:nvSpPr>
          <p:spPr>
            <a:xfrm>
              <a:off x="8506968" y="4006882"/>
              <a:ext cx="5053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0..*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" name="TextBox 22"/>
            <p:cNvSpPr/>
            <p:nvPr/>
          </p:nvSpPr>
          <p:spPr>
            <a:xfrm>
              <a:off x="8506968" y="4235482"/>
              <a:ext cx="1389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572250" y="4495800"/>
              <a:ext cx="4686300" cy="838200"/>
            </a:xfrm>
            <a:prstGeom prst="rect">
              <a:avLst/>
            </a:prstGeom>
            <a:noFill/>
            <a:ln w="14288">
              <a:solidFill>
                <a:srgbClr val="786873"/>
              </a:solidFill>
            </a:ln>
          </p:spPr>
        </p:sp>
        <p:sp>
          <p:nvSpPr>
            <p:cNvPr id="24" name="TextBox 24"/>
            <p:cNvSpPr/>
            <p:nvPr/>
          </p:nvSpPr>
          <p:spPr>
            <a:xfrm>
              <a:off x="6771132" y="4603718"/>
              <a:ext cx="32188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en-US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IdempotencyRepository</a:t>
              </a:r>
              <a:endParaRPr lang="en-US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5" name="TextBox 25"/>
            <p:cNvSpPr/>
            <p:nvPr/>
          </p:nvSpPr>
          <p:spPr>
            <a:xfrm>
              <a:off x="6773418" y="4997482"/>
              <a:ext cx="35480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作用域、摘要、状态、结果ID与版本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27" name="TextBox 27"/>
          <p:cNvSpPr/>
          <p:nvPr/>
        </p:nvSpPr>
        <p:spPr>
          <a:xfrm>
            <a:off x="903732" y="5651468"/>
            <a:ext cx="832704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32" rIns="0" bIns="0" anchor="t" anchorCtr="0">
            <a:noAutofit/>
          </a:bodyPr>
          <a:lstStyle/>
          <a:p>
            <a:pPr algn="l"/>
            <a:r>
              <a:rPr lang="zh-CN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账号＋入口＋操作＋requestId；同摘要返回原结果，异摘要409。</a:t>
            </a:r>
            <a:endParaRPr lang="zh-CN" sz="2100" dirty="0">
              <a:solidFill>
                <a:srgbClr val="352C3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9"/>
          <p:cNvSpPr/>
          <p:nvPr/>
        </p:nvSpPr>
        <p:spPr>
          <a:xfrm>
            <a:off x="10511980" y="6362700"/>
            <a:ext cx="77171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786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 / 24</a:t>
            </a:r>
            <a:endParaRPr lang="zh-CN" sz="1200" dirty="0">
              <a:solidFill>
                <a:srgbClr val="7868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Line 47"/>
          <p:cNvSpPr/>
          <p:nvPr/>
        </p:nvSpPr>
        <p:spPr>
          <a:xfrm>
            <a:off x="904875" y="6229350"/>
            <a:ext cx="10382250" cy="9525"/>
          </a:xfrm>
          <a:custGeom>
            <a:avLst/>
            <a:gdLst/>
            <a:ahLst/>
            <a:cxnLst/>
            <a:rect l="l" t="t" r="r" b="b"/>
            <a:pathLst>
              <a:path w="10382250" h="9525">
                <a:moveTo>
                  <a:pt x="0" y="0"/>
                </a:moveTo>
                <a:lnTo>
                  <a:pt x="10382250" y="0"/>
                </a:lnTo>
              </a:path>
            </a:pathLst>
          </a:custGeom>
          <a:noFill/>
          <a:ln w="9525">
            <a:solidFill>
              <a:srgbClr val="E9DCE3"/>
            </a:solidFill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914400" y="12573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38100">
            <a:solidFill>
              <a:srgbClr val="BE6485"/>
            </a:solidFill>
          </a:ln>
        </p:spPr>
      </p:sp>
      <p:grpSp>
        <p:nvGrpSpPr>
          <p:cNvPr id="4" name="title"/>
          <p:cNvGrpSpPr/>
          <p:nvPr/>
        </p:nvGrpSpPr>
        <p:grpSpPr>
          <a:xfrm>
            <a:off x="897636" y="431768"/>
            <a:ext cx="10477500" cy="645414"/>
            <a:chOff x="897636" y="431768"/>
            <a:chExt cx="10477500" cy="645414"/>
          </a:xfrm>
        </p:grpSpPr>
        <p:sp>
          <p:nvSpPr>
            <p:cNvPr id="3" name="TextBox 3"/>
            <p:cNvSpPr/>
            <p:nvPr/>
          </p:nvSpPr>
          <p:spPr>
            <a:xfrm>
              <a:off x="897636" y="431768"/>
              <a:ext cx="104775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rgbClr val="71364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DFD：临时、外发与持久分开</a:t>
              </a:r>
              <a:endParaRPr lang="zh-CN" sz="3300" b="1" dirty="0">
                <a:solidFill>
                  <a:srgbClr val="7136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5" name="dfd"/>
          <p:cNvGrpSpPr/>
          <p:nvPr/>
        </p:nvGrpSpPr>
        <p:grpSpPr>
          <a:xfrm>
            <a:off x="933450" y="2139982"/>
            <a:ext cx="10325100" cy="3222593"/>
            <a:chOff x="933450" y="2139982"/>
            <a:chExt cx="10325100" cy="3222593"/>
          </a:xfrm>
        </p:grpSpPr>
        <p:sp>
          <p:nvSpPr>
            <p:cNvPr id="7" name="Line 7"/>
            <p:cNvSpPr/>
            <p:nvPr/>
          </p:nvSpPr>
          <p:spPr>
            <a:xfrm>
              <a:off x="2286000" y="3771900"/>
              <a:ext cx="819150" cy="0"/>
            </a:xfrm>
            <a:prstGeom prst="line">
              <a:avLst/>
            </a:prstGeom>
            <a:noFill/>
            <a:ln w="19050">
              <a:solidFill>
                <a:srgbClr val="342B33"/>
              </a:solidFill>
              <a:tailEnd type="arrow" w="lg" len="lg"/>
            </a:ln>
          </p:spPr>
        </p:sp>
        <p:sp>
          <p:nvSpPr>
            <p:cNvPr id="8" name="TextBox 8"/>
            <p:cNvSpPr/>
            <p:nvPr/>
          </p:nvSpPr>
          <p:spPr>
            <a:xfrm>
              <a:off x="2334768" y="32829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选定正文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" name="Line 9"/>
            <p:cNvSpPr/>
            <p:nvPr/>
          </p:nvSpPr>
          <p:spPr>
            <a:xfrm rot="-10800000" flipH="1">
              <a:off x="5238750" y="2724150"/>
              <a:ext cx="1047750" cy="800100"/>
            </a:xfrm>
            <a:prstGeom prst="line">
              <a:avLst/>
            </a:prstGeom>
            <a:noFill/>
            <a:ln w="19050">
              <a:solidFill>
                <a:srgbClr val="342B33"/>
              </a:solidFill>
              <a:tailEnd type="arrow" w="lg" len="lg"/>
            </a:ln>
          </p:spPr>
        </p:sp>
        <p:sp>
          <p:nvSpPr>
            <p:cNvPr id="10" name="TextBox 10"/>
            <p:cNvSpPr/>
            <p:nvPr/>
          </p:nvSpPr>
          <p:spPr>
            <a:xfrm>
              <a:off x="5249418" y="27114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外发载荷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" name="Line 11"/>
            <p:cNvSpPr/>
            <p:nvPr/>
          </p:nvSpPr>
          <p:spPr>
            <a:xfrm>
              <a:off x="5238750" y="4057650"/>
              <a:ext cx="1047750" cy="838200"/>
            </a:xfrm>
            <a:prstGeom prst="line">
              <a:avLst/>
            </a:prstGeom>
            <a:noFill/>
            <a:ln w="19050">
              <a:solidFill>
                <a:srgbClr val="342B33"/>
              </a:solidFill>
              <a:tailEnd type="arrow" w="lg" len="lg"/>
            </a:ln>
          </p:spPr>
        </p:sp>
        <p:sp>
          <p:nvSpPr>
            <p:cNvPr id="12" name="TextBox 12"/>
            <p:cNvSpPr/>
            <p:nvPr/>
          </p:nvSpPr>
          <p:spPr>
            <a:xfrm>
              <a:off x="5230368" y="45974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保存选择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" name="Line 13"/>
            <p:cNvSpPr/>
            <p:nvPr/>
          </p:nvSpPr>
          <p:spPr>
            <a:xfrm>
              <a:off x="8572500" y="2647950"/>
              <a:ext cx="971550" cy="0"/>
            </a:xfrm>
            <a:prstGeom prst="line">
              <a:avLst/>
            </a:prstGeom>
            <a:noFill/>
            <a:ln w="19050">
              <a:solidFill>
                <a:srgbClr val="342B33"/>
              </a:solidFill>
              <a:tailEnd type="arrow" w="lg" len="lg"/>
            </a:ln>
          </p:spPr>
        </p:sp>
        <p:sp>
          <p:nvSpPr>
            <p:cNvPr id="14" name="TextBox 14"/>
            <p:cNvSpPr/>
            <p:nvPr/>
          </p:nvSpPr>
          <p:spPr>
            <a:xfrm>
              <a:off x="8621268" y="21399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最小载荷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5" name="Line 15"/>
            <p:cNvSpPr/>
            <p:nvPr/>
          </p:nvSpPr>
          <p:spPr>
            <a:xfrm>
              <a:off x="8572500" y="4895850"/>
              <a:ext cx="971550" cy="0"/>
            </a:xfrm>
            <a:prstGeom prst="line">
              <a:avLst/>
            </a:prstGeom>
            <a:noFill/>
            <a:ln w="19050">
              <a:solidFill>
                <a:srgbClr val="342B33"/>
              </a:solidFill>
              <a:tailEnd type="arrow" w="lg" len="lg"/>
            </a:ln>
          </p:spPr>
        </p:sp>
        <p:sp>
          <p:nvSpPr>
            <p:cNvPr id="16" name="TextBox 16"/>
            <p:cNvSpPr/>
            <p:nvPr/>
          </p:nvSpPr>
          <p:spPr>
            <a:xfrm>
              <a:off x="8659368" y="43878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保存快照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933450" y="3409950"/>
              <a:ext cx="1333500" cy="762000"/>
            </a:xfrm>
            <a:prstGeom prst="rect">
              <a:avLst/>
            </a:prstGeom>
            <a:noFill/>
            <a:ln w="14288">
              <a:solidFill>
                <a:srgbClr val="786873"/>
              </a:solidFill>
            </a:ln>
          </p:spPr>
        </p:sp>
        <p:sp>
          <p:nvSpPr>
            <p:cNvPr id="18" name="TextBox 18"/>
            <p:cNvSpPr/>
            <p:nvPr/>
          </p:nvSpPr>
          <p:spPr>
            <a:xfrm>
              <a:off x="1306830" y="3632168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ctr"/>
              <a:r>
                <a:rPr lang="zh-CN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用户</a:t>
              </a:r>
              <a:endParaRPr lang="zh-CN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143250" y="3295650"/>
              <a:ext cx="2095500" cy="990600"/>
            </a:xfrm>
            <a:prstGeom prst="roundRect">
              <a:avLst>
                <a:gd name="adj" fmla="val 7692"/>
              </a:avLst>
            </a:prstGeom>
            <a:noFill/>
            <a:ln w="14288">
              <a:solidFill>
                <a:srgbClr val="786873"/>
              </a:solidFill>
            </a:ln>
          </p:spPr>
        </p:sp>
        <p:sp>
          <p:nvSpPr>
            <p:cNvPr id="20" name="TextBox 20"/>
            <p:cNvSpPr/>
            <p:nvPr/>
          </p:nvSpPr>
          <p:spPr>
            <a:xfrm>
              <a:off x="3405854" y="3403568"/>
              <a:ext cx="157029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ctr"/>
              <a:r>
                <a:rPr lang="zh-CN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P1 表达处理</a:t>
              </a:r>
              <a:endParaRPr lang="zh-CN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1" name="TextBox 21"/>
            <p:cNvSpPr/>
            <p:nvPr/>
          </p:nvSpPr>
          <p:spPr>
            <a:xfrm>
              <a:off x="3516249" y="38735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默认临时内存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324600" y="2228850"/>
              <a:ext cx="2247900" cy="1009650"/>
            </a:xfrm>
            <a:prstGeom prst="roundRect">
              <a:avLst>
                <a:gd name="adj" fmla="val 7547"/>
              </a:avLst>
            </a:prstGeom>
            <a:noFill/>
            <a:ln w="14288">
              <a:solidFill>
                <a:srgbClr val="786873"/>
              </a:solidFill>
            </a:ln>
          </p:spPr>
        </p:sp>
        <p:sp>
          <p:nvSpPr>
            <p:cNvPr id="23" name="TextBox 23"/>
            <p:cNvSpPr/>
            <p:nvPr/>
          </p:nvSpPr>
          <p:spPr>
            <a:xfrm>
              <a:off x="6663404" y="2374868"/>
              <a:ext cx="157029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ctr"/>
              <a:r>
                <a:rPr lang="zh-CN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P2 授权外发</a:t>
              </a:r>
              <a:endParaRPr lang="zh-CN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" name="TextBox 24"/>
            <p:cNvSpPr/>
            <p:nvPr/>
          </p:nvSpPr>
          <p:spPr>
            <a:xfrm>
              <a:off x="6596062" y="2825782"/>
              <a:ext cx="17048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5" tIns="-32" rIns="0" bIns="0" anchor="t" anchorCtr="0">
              <a:noAutofit/>
            </a:bodyPr>
            <a:lstStyle/>
            <a:p>
              <a:pPr algn="ctr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AI / SEARCH许可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324600" y="4343400"/>
              <a:ext cx="2247900" cy="1009650"/>
            </a:xfrm>
            <a:prstGeom prst="roundRect">
              <a:avLst>
                <a:gd name="adj" fmla="val 7547"/>
              </a:avLst>
            </a:prstGeom>
            <a:noFill/>
            <a:ln w="14288">
              <a:solidFill>
                <a:srgbClr val="786873"/>
              </a:solidFill>
            </a:ln>
          </p:spPr>
        </p:sp>
        <p:sp>
          <p:nvSpPr>
            <p:cNvPr id="26" name="TextBox 26"/>
            <p:cNvSpPr/>
            <p:nvPr/>
          </p:nvSpPr>
          <p:spPr>
            <a:xfrm>
              <a:off x="6663404" y="4470368"/>
              <a:ext cx="157029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ctr"/>
              <a:r>
                <a:rPr lang="zh-CN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P3 主动保存</a:t>
              </a:r>
              <a:endParaRPr lang="zh-CN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7" name="TextBox 27"/>
            <p:cNvSpPr/>
            <p:nvPr/>
          </p:nvSpPr>
          <p:spPr>
            <a:xfrm>
              <a:off x="6602825" y="4940332"/>
              <a:ext cx="169145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登录 + SAVE许可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9582150" y="2228850"/>
              <a:ext cx="1676400" cy="1009650"/>
            </a:xfrm>
            <a:prstGeom prst="rect">
              <a:avLst/>
            </a:prstGeom>
            <a:noFill/>
            <a:ln w="14288">
              <a:solidFill>
                <a:srgbClr val="786873"/>
              </a:solidFill>
            </a:ln>
          </p:spPr>
        </p:sp>
        <p:sp>
          <p:nvSpPr>
            <p:cNvPr id="29" name="TextBox 29"/>
            <p:cNvSpPr/>
            <p:nvPr/>
          </p:nvSpPr>
          <p:spPr>
            <a:xfrm>
              <a:off x="9681686" y="2374868"/>
              <a:ext cx="147723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5" tIns="32" rIns="0" bIns="0" anchor="t" anchorCtr="0">
              <a:noAutofit/>
            </a:bodyPr>
            <a:lstStyle/>
            <a:p>
              <a:pPr algn="ctr"/>
              <a:r>
                <a:rPr lang="zh-CN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模型 / 检索</a:t>
              </a:r>
              <a:endParaRPr lang="zh-CN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0" name="TextBox 30"/>
            <p:cNvSpPr/>
            <p:nvPr/>
          </p:nvSpPr>
          <p:spPr>
            <a:xfrm>
              <a:off x="9967722" y="28257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外部能力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1" name="Line 31"/>
            <p:cNvSpPr/>
            <p:nvPr/>
          </p:nvSpPr>
          <p:spPr>
            <a:xfrm>
              <a:off x="9582150" y="4343400"/>
              <a:ext cx="1676400" cy="9525"/>
            </a:xfrm>
            <a:custGeom>
              <a:avLst/>
              <a:gdLst/>
              <a:ahLst/>
              <a:cxnLst/>
              <a:rect l="l" t="t" r="r" b="b"/>
              <a:pathLst>
                <a:path w="1676400" h="9525">
                  <a:moveTo>
                    <a:pt x="0" y="0"/>
                  </a:moveTo>
                  <a:lnTo>
                    <a:pt x="1676400" y="0"/>
                  </a:lnTo>
                </a:path>
              </a:pathLst>
            </a:custGeom>
            <a:noFill/>
            <a:ln w="14288">
              <a:solidFill>
                <a:srgbClr val="786873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9582150" y="5353050"/>
              <a:ext cx="1676400" cy="9525"/>
            </a:xfrm>
            <a:custGeom>
              <a:avLst/>
              <a:gdLst/>
              <a:ahLst/>
              <a:cxnLst/>
              <a:rect l="l" t="t" r="r" b="b"/>
              <a:pathLst>
                <a:path w="1676400" h="9525">
                  <a:moveTo>
                    <a:pt x="0" y="0"/>
                  </a:moveTo>
                  <a:lnTo>
                    <a:pt x="1676400" y="0"/>
                  </a:lnTo>
                </a:path>
              </a:pathLst>
            </a:custGeom>
            <a:noFill/>
            <a:ln w="14288">
              <a:solidFill>
                <a:srgbClr val="786873"/>
              </a:solidFill>
            </a:ln>
          </p:spPr>
        </p:sp>
        <p:sp>
          <p:nvSpPr>
            <p:cNvPr id="33" name="TextBox 33"/>
            <p:cNvSpPr/>
            <p:nvPr/>
          </p:nvSpPr>
          <p:spPr>
            <a:xfrm>
              <a:off x="9635204" y="4470368"/>
              <a:ext cx="157029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ctr"/>
              <a:r>
                <a:rPr lang="zh-CN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D2 保存记录</a:t>
              </a:r>
              <a:endParaRPr lang="zh-CN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4" name="TextBox 34"/>
            <p:cNvSpPr/>
            <p:nvPr/>
          </p:nvSpPr>
          <p:spPr>
            <a:xfrm>
              <a:off x="9617869" y="4940332"/>
              <a:ext cx="1604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父表 + 类型子表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39" name="TextBox 39"/>
          <p:cNvSpPr/>
          <p:nvPr/>
        </p:nvSpPr>
        <p:spPr>
          <a:xfrm>
            <a:off x="10730294" y="6362700"/>
            <a:ext cx="5534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786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 / 24</a:t>
            </a:r>
            <a:endParaRPr lang="zh-CN" sz="1200" dirty="0">
              <a:solidFill>
                <a:srgbClr val="7868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Line 62"/>
          <p:cNvSpPr/>
          <p:nvPr/>
        </p:nvSpPr>
        <p:spPr>
          <a:xfrm>
            <a:off x="904875" y="6229350"/>
            <a:ext cx="10382250" cy="9525"/>
          </a:xfrm>
          <a:custGeom>
            <a:avLst/>
            <a:gdLst/>
            <a:ahLst/>
            <a:cxnLst/>
            <a:rect l="l" t="t" r="r" b="b"/>
            <a:pathLst>
              <a:path w="10382250" h="9525">
                <a:moveTo>
                  <a:pt x="0" y="0"/>
                </a:moveTo>
                <a:lnTo>
                  <a:pt x="10382250" y="0"/>
                </a:lnTo>
              </a:path>
            </a:pathLst>
          </a:custGeom>
          <a:noFill/>
          <a:ln w="9525">
            <a:solidFill>
              <a:srgbClr val="E9DCE3"/>
            </a:solidFill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914400" y="12573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38100">
            <a:solidFill>
              <a:srgbClr val="BE6485"/>
            </a:solidFill>
          </a:ln>
        </p:spPr>
      </p:sp>
      <p:grpSp>
        <p:nvGrpSpPr>
          <p:cNvPr id="4" name="title"/>
          <p:cNvGrpSpPr/>
          <p:nvPr/>
        </p:nvGrpSpPr>
        <p:grpSpPr>
          <a:xfrm>
            <a:off x="897636" y="431768"/>
            <a:ext cx="10477500" cy="645414"/>
            <a:chOff x="897636" y="431768"/>
            <a:chExt cx="10477500" cy="645414"/>
          </a:xfrm>
        </p:grpSpPr>
        <p:sp>
          <p:nvSpPr>
            <p:cNvPr id="3" name="TextBox 3"/>
            <p:cNvSpPr/>
            <p:nvPr/>
          </p:nvSpPr>
          <p:spPr>
            <a:xfrm>
              <a:off x="897636" y="431768"/>
              <a:ext cx="104775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rgbClr val="71364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泳道：主动保存与失败出口</a:t>
              </a:r>
              <a:endParaRPr lang="zh-CN" sz="3300" b="1" dirty="0">
                <a:solidFill>
                  <a:srgbClr val="7136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9" name="save-activity"/>
          <p:cNvGrpSpPr/>
          <p:nvPr/>
        </p:nvGrpSpPr>
        <p:grpSpPr>
          <a:xfrm>
            <a:off x="933450" y="2362200"/>
            <a:ext cx="10325100" cy="3619500"/>
            <a:chOff x="933450" y="2362200"/>
            <a:chExt cx="10325100" cy="3619500"/>
          </a:xfrm>
        </p:grpSpPr>
        <p:sp>
          <p:nvSpPr>
            <p:cNvPr id="7" name="Line 7"/>
            <p:cNvSpPr/>
            <p:nvPr/>
          </p:nvSpPr>
          <p:spPr>
            <a:xfrm>
              <a:off x="933450" y="3028950"/>
              <a:ext cx="10325100" cy="9525"/>
            </a:xfrm>
            <a:custGeom>
              <a:avLst/>
              <a:gdLst/>
              <a:ahLst/>
              <a:cxnLst/>
              <a:rect l="l" t="t" r="r" b="b"/>
              <a:pathLst>
                <a:path w="10325100" h="9525">
                  <a:moveTo>
                    <a:pt x="0" y="0"/>
                  </a:moveTo>
                  <a:lnTo>
                    <a:pt x="10325100" y="0"/>
                  </a:lnTo>
                </a:path>
              </a:pathLst>
            </a:custGeom>
            <a:noFill/>
            <a:ln w="9525">
              <a:solidFill>
                <a:srgbClr val="E9DCE3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33450" y="3905250"/>
              <a:ext cx="10325100" cy="9525"/>
            </a:xfrm>
            <a:custGeom>
              <a:avLst/>
              <a:gdLst/>
              <a:ahLst/>
              <a:cxnLst/>
              <a:rect l="l" t="t" r="r" b="b"/>
              <a:pathLst>
                <a:path w="10325100" h="9525">
                  <a:moveTo>
                    <a:pt x="0" y="0"/>
                  </a:moveTo>
                  <a:lnTo>
                    <a:pt x="10325100" y="0"/>
                  </a:lnTo>
                </a:path>
              </a:pathLst>
            </a:custGeom>
            <a:noFill/>
            <a:ln w="9525">
              <a:solidFill>
                <a:srgbClr val="E9DCE3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933450" y="4895850"/>
              <a:ext cx="10325100" cy="9525"/>
            </a:xfrm>
            <a:custGeom>
              <a:avLst/>
              <a:gdLst/>
              <a:ahLst/>
              <a:cxnLst/>
              <a:rect l="l" t="t" r="r" b="b"/>
              <a:pathLst>
                <a:path w="10325100" h="9525">
                  <a:moveTo>
                    <a:pt x="0" y="0"/>
                  </a:moveTo>
                  <a:lnTo>
                    <a:pt x="10325100" y="0"/>
                  </a:lnTo>
                </a:path>
              </a:pathLst>
            </a:custGeom>
            <a:noFill/>
            <a:ln w="9525">
              <a:solidFill>
                <a:srgbClr val="E9DCE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1018032" y="2412968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用户</a:t>
              </a:r>
              <a:endParaRPr lang="zh-CN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" name="TextBox 11"/>
            <p:cNvSpPr/>
            <p:nvPr/>
          </p:nvSpPr>
          <p:spPr>
            <a:xfrm>
              <a:off x="1018032" y="3289268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界面</a:t>
              </a:r>
              <a:endParaRPr lang="zh-CN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" name="TextBox 12"/>
            <p:cNvSpPr/>
            <p:nvPr/>
          </p:nvSpPr>
          <p:spPr>
            <a:xfrm>
              <a:off x="1018032" y="4241768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服务</a:t>
              </a:r>
              <a:endParaRPr lang="zh-CN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" name="TextBox 13"/>
            <p:cNvSpPr/>
            <p:nvPr/>
          </p:nvSpPr>
          <p:spPr>
            <a:xfrm>
              <a:off x="1018032" y="5232368"/>
              <a:ext cx="8694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数据库</a:t>
              </a:r>
              <a:endParaRPr lang="zh-CN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" name="Ellipse 14"/>
            <p:cNvSpPr/>
            <p:nvPr/>
          </p:nvSpPr>
          <p:spPr>
            <a:xfrm>
              <a:off x="2305050" y="2514600"/>
              <a:ext cx="152400" cy="152400"/>
            </a:xfrm>
            <a:prstGeom prst="ellipse">
              <a:avLst/>
            </a:prstGeom>
            <a:solidFill>
              <a:srgbClr val="352C34"/>
            </a:solidFill>
            <a:ln>
              <a:noFill/>
            </a:ln>
          </p:spPr>
        </p:sp>
        <p:sp>
          <p:nvSpPr>
            <p:cNvPr id="15" name="Line 15"/>
            <p:cNvSpPr/>
            <p:nvPr/>
          </p:nvSpPr>
          <p:spPr>
            <a:xfrm>
              <a:off x="2476500" y="2590800"/>
              <a:ext cx="247650" cy="0"/>
            </a:xfrm>
            <a:prstGeom prst="line">
              <a:avLst/>
            </a:prstGeom>
            <a:noFill/>
            <a:ln w="19050">
              <a:solidFill>
                <a:srgbClr val="342B33"/>
              </a:solidFill>
              <a:tailEnd type="arrow" w="lg" len="lg"/>
            </a:ln>
          </p:spPr>
        </p:sp>
        <p:sp>
          <p:nvSpPr>
            <p:cNvPr id="16" name="Rectangle 16"/>
            <p:cNvSpPr/>
            <p:nvPr/>
          </p:nvSpPr>
          <p:spPr>
            <a:xfrm>
              <a:off x="2762250" y="2362200"/>
              <a:ext cx="2400300" cy="457200"/>
            </a:xfrm>
            <a:prstGeom prst="roundRect">
              <a:avLst>
                <a:gd name="adj" fmla="val 16667"/>
              </a:avLst>
            </a:prstGeom>
            <a:noFill/>
            <a:ln w="14288">
              <a:solidFill>
                <a:srgbClr val="786873"/>
              </a:solidFill>
            </a:ln>
          </p:spPr>
        </p:sp>
        <p:sp>
          <p:nvSpPr>
            <p:cNvPr id="17" name="TextBox 17"/>
            <p:cNvSpPr/>
            <p:nvPr/>
          </p:nvSpPr>
          <p:spPr>
            <a:xfrm>
              <a:off x="2820924" y="2422493"/>
              <a:ext cx="22829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ctr"/>
              <a:r>
                <a:rPr lang="zh-CN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选定内容并点保存</a:t>
              </a:r>
              <a:endParaRPr lang="zh-CN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" name="Line 18"/>
            <p:cNvSpPr/>
            <p:nvPr/>
          </p:nvSpPr>
          <p:spPr>
            <a:xfrm>
              <a:off x="5162550" y="2819400"/>
              <a:ext cx="666750" cy="381000"/>
            </a:xfrm>
            <a:prstGeom prst="line">
              <a:avLst/>
            </a:prstGeom>
            <a:noFill/>
            <a:ln w="19050">
              <a:solidFill>
                <a:srgbClr val="342B33"/>
              </a:solidFill>
              <a:tailEnd type="arrow" w="lg" len="lg"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324350" y="3219450"/>
              <a:ext cx="3009900" cy="457200"/>
            </a:xfrm>
            <a:prstGeom prst="roundRect">
              <a:avLst>
                <a:gd name="adj" fmla="val 16667"/>
              </a:avLst>
            </a:prstGeom>
            <a:noFill/>
            <a:ln w="14288">
              <a:solidFill>
                <a:srgbClr val="786873"/>
              </a:solidFill>
            </a:ln>
          </p:spPr>
        </p:sp>
        <p:sp>
          <p:nvSpPr>
            <p:cNvPr id="20" name="TextBox 20"/>
            <p:cNvSpPr/>
            <p:nvPr/>
          </p:nvSpPr>
          <p:spPr>
            <a:xfrm>
              <a:off x="4546473" y="3289268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ctr"/>
              <a:r>
                <a:rPr lang="zh-CN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展示范围，确认许可</a:t>
              </a:r>
              <a:endParaRPr lang="zh-CN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1" name="Line 21"/>
            <p:cNvSpPr/>
            <p:nvPr/>
          </p:nvSpPr>
          <p:spPr>
            <a:xfrm>
              <a:off x="7334250" y="3676650"/>
              <a:ext cx="590550" cy="419100"/>
            </a:xfrm>
            <a:prstGeom prst="line">
              <a:avLst/>
            </a:prstGeom>
            <a:noFill/>
            <a:ln w="19050">
              <a:solidFill>
                <a:srgbClr val="342B33"/>
              </a:solidFill>
              <a:tailEnd type="arrow" w="lg" len="lg"/>
            </a:ln>
          </p:spPr>
        </p:sp>
        <p:sp>
          <p:nvSpPr>
            <p:cNvPr id="22" name="Freeform 22"/>
            <p:cNvSpPr/>
            <p:nvPr/>
          </p:nvSpPr>
          <p:spPr>
            <a:xfrm>
              <a:off x="7620000" y="4000500"/>
              <a:ext cx="952500" cy="666750"/>
            </a:xfrm>
            <a:prstGeom prst="diamond">
              <a:avLst/>
            </a:prstGeom>
            <a:noFill/>
            <a:ln w="19050">
              <a:solidFill>
                <a:srgbClr val="352C34"/>
              </a:solidFill>
            </a:ln>
          </p:spPr>
        </p:sp>
        <p:sp>
          <p:nvSpPr>
            <p:cNvPr id="23" name="TextBox 23"/>
            <p:cNvSpPr/>
            <p:nvPr/>
          </p:nvSpPr>
          <p:spPr>
            <a:xfrm>
              <a:off x="7754684" y="42164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有效？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" name="Line 24"/>
            <p:cNvSpPr/>
            <p:nvPr/>
          </p:nvSpPr>
          <p:spPr>
            <a:xfrm rot="10800000">
              <a:off x="5753100" y="4333875"/>
              <a:ext cx="1866900" cy="0"/>
            </a:xfrm>
            <a:prstGeom prst="line">
              <a:avLst/>
            </a:prstGeom>
            <a:noFill/>
            <a:ln w="19050">
              <a:solidFill>
                <a:srgbClr val="342B33"/>
              </a:solidFill>
              <a:tailEnd type="arrow" w="lg" len="lg"/>
            </a:ln>
          </p:spPr>
        </p:sp>
        <p:sp>
          <p:nvSpPr>
            <p:cNvPr id="25" name="TextBox 25"/>
            <p:cNvSpPr/>
            <p:nvPr/>
          </p:nvSpPr>
          <p:spPr>
            <a:xfrm>
              <a:off x="6468618" y="4006882"/>
              <a:ext cx="238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否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238500" y="4114800"/>
              <a:ext cx="2476500" cy="457200"/>
            </a:xfrm>
            <a:prstGeom prst="roundRect">
              <a:avLst>
                <a:gd name="adj" fmla="val 16667"/>
              </a:avLst>
            </a:prstGeom>
            <a:noFill/>
            <a:ln w="14288">
              <a:solidFill>
                <a:srgbClr val="786873"/>
              </a:solidFill>
            </a:ln>
          </p:spPr>
        </p:sp>
        <p:sp>
          <p:nvSpPr>
            <p:cNvPr id="27" name="TextBox 27"/>
            <p:cNvSpPr/>
            <p:nvPr/>
          </p:nvSpPr>
          <p:spPr>
            <a:xfrm>
              <a:off x="3335274" y="4175093"/>
              <a:ext cx="22829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ctr"/>
              <a:r>
                <a:rPr lang="zh-CN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拒绝，保留原输入</a:t>
              </a:r>
              <a:endParaRPr lang="zh-CN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8" name="Line 28"/>
            <p:cNvSpPr/>
            <p:nvPr/>
          </p:nvSpPr>
          <p:spPr>
            <a:xfrm>
              <a:off x="2876550" y="4333875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36195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352C34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2667000" y="4238625"/>
              <a:ext cx="190500" cy="190500"/>
            </a:xfrm>
            <a:prstGeom prst="ellipse">
              <a:avLst/>
            </a:prstGeom>
            <a:noFill/>
            <a:ln w="19050">
              <a:solidFill>
                <a:srgbClr val="352C34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2705100" y="4276725"/>
              <a:ext cx="114300" cy="114300"/>
            </a:xfrm>
            <a:prstGeom prst="ellipse">
              <a:avLst/>
            </a:prstGeom>
            <a:solidFill>
              <a:srgbClr val="352C34"/>
            </a:solidFill>
            <a:ln>
              <a:noFill/>
            </a:ln>
          </p:spPr>
        </p:sp>
        <p:sp>
          <p:nvSpPr>
            <p:cNvPr id="31" name="Line 31"/>
            <p:cNvSpPr/>
            <p:nvPr/>
          </p:nvSpPr>
          <p:spPr>
            <a:xfrm>
              <a:off x="8096250" y="4667250"/>
              <a:ext cx="1790700" cy="438150"/>
            </a:xfrm>
            <a:prstGeom prst="line">
              <a:avLst/>
            </a:prstGeom>
            <a:noFill/>
            <a:ln w="19050">
              <a:solidFill>
                <a:srgbClr val="342B33"/>
              </a:solidFill>
              <a:tailEnd type="arrow" w="lg" len="lg"/>
            </a:ln>
          </p:spPr>
        </p:sp>
        <p:sp>
          <p:nvSpPr>
            <p:cNvPr id="32" name="TextBox 32"/>
            <p:cNvSpPr/>
            <p:nvPr/>
          </p:nvSpPr>
          <p:spPr>
            <a:xfrm>
              <a:off x="8792718" y="4654582"/>
              <a:ext cx="238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是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763000" y="5124450"/>
              <a:ext cx="2400300" cy="457200"/>
            </a:xfrm>
            <a:prstGeom prst="roundRect">
              <a:avLst>
                <a:gd name="adj" fmla="val 16667"/>
              </a:avLst>
            </a:prstGeom>
            <a:noFill/>
            <a:ln w="14288">
              <a:solidFill>
                <a:srgbClr val="786873"/>
              </a:solidFill>
            </a:ln>
          </p:spPr>
        </p:sp>
        <p:sp>
          <p:nvSpPr>
            <p:cNvPr id="34" name="TextBox 34"/>
            <p:cNvSpPr/>
            <p:nvPr/>
          </p:nvSpPr>
          <p:spPr>
            <a:xfrm>
              <a:off x="8963025" y="5194268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ctr"/>
              <a:r>
                <a:rPr lang="zh-CN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提交主表与子表</a:t>
              </a:r>
              <a:endParaRPr lang="zh-CN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5" name="Line 35"/>
            <p:cNvSpPr/>
            <p:nvPr/>
          </p:nvSpPr>
          <p:spPr>
            <a:xfrm>
              <a:off x="9963150" y="55816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rgbClr val="352C34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9867900" y="5791200"/>
              <a:ext cx="190500" cy="190500"/>
            </a:xfrm>
            <a:prstGeom prst="ellipse">
              <a:avLst/>
            </a:prstGeom>
            <a:noFill/>
            <a:ln w="19050">
              <a:solidFill>
                <a:srgbClr val="352C34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9906000" y="5829300"/>
              <a:ext cx="114300" cy="114300"/>
            </a:xfrm>
            <a:prstGeom prst="ellipse">
              <a:avLst/>
            </a:prstGeom>
            <a:solidFill>
              <a:srgbClr val="352C34"/>
            </a:solidFill>
            <a:ln>
              <a:noFill/>
            </a:ln>
          </p:spPr>
        </p:sp>
        <p:sp>
          <p:nvSpPr>
            <p:cNvPr id="38" name="TextBox 38"/>
            <p:cNvSpPr/>
            <p:nvPr/>
          </p:nvSpPr>
          <p:spPr>
            <a:xfrm>
              <a:off x="2658618" y="5302282"/>
              <a:ext cx="47035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78687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事务失败整体回滚；客户端不先显示“保存成功”</a:t>
              </a:r>
              <a:endParaRPr lang="zh-CN" sz="1650" dirty="0">
                <a:solidFill>
                  <a:srgbClr val="786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41" name="TextBox 41"/>
          <p:cNvSpPr/>
          <p:nvPr/>
        </p:nvSpPr>
        <p:spPr>
          <a:xfrm>
            <a:off x="10730294" y="6362700"/>
            <a:ext cx="5534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786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/ 24</a:t>
            </a:r>
            <a:endParaRPr lang="zh-CN" sz="1200" dirty="0">
              <a:solidFill>
                <a:srgbClr val="7868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Line 59"/>
          <p:cNvSpPr/>
          <p:nvPr/>
        </p:nvSpPr>
        <p:spPr>
          <a:xfrm>
            <a:off x="904875" y="6229350"/>
            <a:ext cx="10382250" cy="9525"/>
          </a:xfrm>
          <a:custGeom>
            <a:avLst/>
            <a:gdLst/>
            <a:ahLst/>
            <a:cxnLst/>
            <a:rect l="l" t="t" r="r" b="b"/>
            <a:pathLst>
              <a:path w="10382250" h="9525">
                <a:moveTo>
                  <a:pt x="0" y="0"/>
                </a:moveTo>
                <a:lnTo>
                  <a:pt x="10382250" y="0"/>
                </a:lnTo>
              </a:path>
            </a:pathLst>
          </a:custGeom>
          <a:noFill/>
          <a:ln w="9525">
            <a:solidFill>
              <a:srgbClr val="E9DCE3"/>
            </a:solidFill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914400" y="12573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38100">
            <a:solidFill>
              <a:srgbClr val="BE6485"/>
            </a:solidFill>
          </a:ln>
        </p:spPr>
      </p:sp>
      <p:grpSp>
        <p:nvGrpSpPr>
          <p:cNvPr id="4" name="title"/>
          <p:cNvGrpSpPr/>
          <p:nvPr/>
        </p:nvGrpSpPr>
        <p:grpSpPr>
          <a:xfrm>
            <a:off x="897636" y="431768"/>
            <a:ext cx="10477500" cy="645414"/>
            <a:chOff x="897636" y="431768"/>
            <a:chExt cx="10477500" cy="645414"/>
          </a:xfrm>
        </p:grpSpPr>
        <p:sp>
          <p:nvSpPr>
            <p:cNvPr id="3" name="TextBox 3"/>
            <p:cNvSpPr/>
            <p:nvPr/>
          </p:nvSpPr>
          <p:spPr>
            <a:xfrm>
              <a:off x="897636" y="431768"/>
              <a:ext cx="104775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rgbClr val="71364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泳道：完成排练≠结束会话</a:t>
              </a:r>
              <a:endParaRPr lang="zh-CN" sz="3300" b="1" dirty="0">
                <a:solidFill>
                  <a:srgbClr val="7136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9" name="rehearsal-lanes"/>
          <p:cNvGrpSpPr/>
          <p:nvPr/>
        </p:nvGrpSpPr>
        <p:grpSpPr>
          <a:xfrm>
            <a:off x="1047750" y="2184368"/>
            <a:ext cx="10134600" cy="3287268"/>
            <a:chOff x="1047750" y="2184368"/>
            <a:chExt cx="10134600" cy="3287268"/>
          </a:xfrm>
        </p:grpSpPr>
        <p:sp>
          <p:nvSpPr>
            <p:cNvPr id="7" name="Line 7"/>
            <p:cNvSpPr/>
            <p:nvPr/>
          </p:nvSpPr>
          <p:spPr>
            <a:xfrm>
              <a:off x="3352800" y="2190750"/>
              <a:ext cx="9525" cy="3276600"/>
            </a:xfrm>
            <a:custGeom>
              <a:avLst/>
              <a:gdLst/>
              <a:ahLst/>
              <a:cxnLst/>
              <a:rect l="l" t="t" r="r" b="b"/>
              <a:pathLst>
                <a:path w="9525" h="3276600">
                  <a:moveTo>
                    <a:pt x="0" y="0"/>
                  </a:moveTo>
                  <a:lnTo>
                    <a:pt x="0" y="3276600"/>
                  </a:lnTo>
                </a:path>
              </a:pathLst>
            </a:custGeom>
            <a:noFill/>
            <a:ln w="9525">
              <a:solidFill>
                <a:srgbClr val="E9DCE3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5791200" y="2190750"/>
              <a:ext cx="9525" cy="3276600"/>
            </a:xfrm>
            <a:custGeom>
              <a:avLst/>
              <a:gdLst/>
              <a:ahLst/>
              <a:cxnLst/>
              <a:rect l="l" t="t" r="r" b="b"/>
              <a:pathLst>
                <a:path w="9525" h="3276600">
                  <a:moveTo>
                    <a:pt x="0" y="0"/>
                  </a:moveTo>
                  <a:lnTo>
                    <a:pt x="0" y="3276600"/>
                  </a:lnTo>
                </a:path>
              </a:pathLst>
            </a:custGeom>
            <a:noFill/>
            <a:ln w="9525">
              <a:solidFill>
                <a:srgbClr val="E9DCE3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8229600" y="2190750"/>
              <a:ext cx="9525" cy="3276600"/>
            </a:xfrm>
            <a:custGeom>
              <a:avLst/>
              <a:gdLst/>
              <a:ahLst/>
              <a:cxnLst/>
              <a:rect l="l" t="t" r="r" b="b"/>
              <a:pathLst>
                <a:path w="9525" h="3276600">
                  <a:moveTo>
                    <a:pt x="0" y="0"/>
                  </a:moveTo>
                  <a:lnTo>
                    <a:pt x="0" y="3276600"/>
                  </a:lnTo>
                </a:path>
              </a:pathLst>
            </a:custGeom>
            <a:noFill/>
            <a:ln w="9525">
              <a:solidFill>
                <a:srgbClr val="E9DCE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1802130" y="2184368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ctr"/>
              <a:r>
                <a:rPr lang="zh-CN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用户</a:t>
              </a:r>
              <a:endParaRPr lang="zh-CN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" name="TextBox 11"/>
            <p:cNvSpPr/>
            <p:nvPr/>
          </p:nvSpPr>
          <p:spPr>
            <a:xfrm>
              <a:off x="4278630" y="2184368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ctr"/>
              <a:r>
                <a:rPr lang="zh-CN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界面</a:t>
              </a:r>
              <a:endParaRPr lang="zh-CN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" name="TextBox 12"/>
            <p:cNvSpPr/>
            <p:nvPr/>
          </p:nvSpPr>
          <p:spPr>
            <a:xfrm>
              <a:off x="6418326" y="2184368"/>
              <a:ext cx="11841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ctr"/>
              <a:r>
                <a:rPr lang="zh-CN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服务 / AI</a:t>
              </a:r>
              <a:endParaRPr lang="zh-CN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" name="TextBox 13"/>
            <p:cNvSpPr/>
            <p:nvPr/>
          </p:nvSpPr>
          <p:spPr>
            <a:xfrm>
              <a:off x="9460230" y="2184368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ctr"/>
              <a:r>
                <a:rPr lang="zh-CN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数据</a:t>
              </a:r>
              <a:endParaRPr lang="zh-CN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" name="Ellipse 14"/>
            <p:cNvSpPr/>
            <p:nvPr/>
          </p:nvSpPr>
          <p:spPr>
            <a:xfrm>
              <a:off x="2028825" y="2619375"/>
              <a:ext cx="133350" cy="133350"/>
            </a:xfrm>
            <a:prstGeom prst="ellipse">
              <a:avLst/>
            </a:prstGeom>
            <a:solidFill>
              <a:srgbClr val="352C34"/>
            </a:solidFill>
            <a:ln>
              <a:noFill/>
            </a:ln>
          </p:spPr>
        </p:sp>
        <p:sp>
          <p:nvSpPr>
            <p:cNvPr id="15" name="Line 15"/>
            <p:cNvSpPr/>
            <p:nvPr/>
          </p:nvSpPr>
          <p:spPr>
            <a:xfrm>
              <a:off x="2095500" y="2762250"/>
              <a:ext cx="0" cy="171450"/>
            </a:xfrm>
            <a:prstGeom prst="line">
              <a:avLst/>
            </a:prstGeom>
            <a:noFill/>
            <a:ln w="19050">
              <a:solidFill>
                <a:srgbClr val="342B33"/>
              </a:solidFill>
              <a:tailEnd type="arrow" w="lg" len="lg"/>
            </a:ln>
          </p:spPr>
        </p:sp>
        <p:sp>
          <p:nvSpPr>
            <p:cNvPr id="16" name="Rectangle 16"/>
            <p:cNvSpPr/>
            <p:nvPr/>
          </p:nvSpPr>
          <p:spPr>
            <a:xfrm>
              <a:off x="1047750" y="2971800"/>
              <a:ext cx="2095500" cy="457200"/>
            </a:xfrm>
            <a:prstGeom prst="roundRect">
              <a:avLst>
                <a:gd name="adj" fmla="val 16667"/>
              </a:avLst>
            </a:prstGeom>
            <a:noFill/>
            <a:ln w="14288">
              <a:solidFill>
                <a:srgbClr val="786873"/>
              </a:solidFill>
            </a:ln>
          </p:spPr>
        </p:sp>
        <p:sp>
          <p:nvSpPr>
            <p:cNvPr id="17" name="TextBox 17"/>
            <p:cNvSpPr/>
            <p:nvPr/>
          </p:nvSpPr>
          <p:spPr>
            <a:xfrm>
              <a:off x="1222629" y="3041618"/>
              <a:ext cx="174583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95" bIns="0" anchor="t" anchorCtr="0">
              <a:noAutofit/>
            </a:bodyPr>
            <a:lstStyle/>
            <a:p>
              <a:pPr algn="ctr"/>
              <a:r>
                <a:rPr lang="zh-CN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点“完成排练”</a:t>
              </a:r>
              <a:endParaRPr lang="zh-CN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" name="Line 18"/>
            <p:cNvSpPr/>
            <p:nvPr/>
          </p:nvSpPr>
          <p:spPr>
            <a:xfrm>
              <a:off x="3143250" y="3200400"/>
              <a:ext cx="361950" cy="304800"/>
            </a:xfrm>
            <a:prstGeom prst="line">
              <a:avLst/>
            </a:prstGeom>
            <a:noFill/>
            <a:ln w="19050">
              <a:solidFill>
                <a:srgbClr val="342B33"/>
              </a:solidFill>
              <a:tailEnd type="arrow" w="lg" len="lg"/>
            </a:ln>
          </p:spPr>
        </p:sp>
        <p:sp>
          <p:nvSpPr>
            <p:cNvPr id="19" name="Rectangle 19"/>
            <p:cNvSpPr/>
            <p:nvPr/>
          </p:nvSpPr>
          <p:spPr>
            <a:xfrm>
              <a:off x="3543300" y="3333750"/>
              <a:ext cx="2057400" cy="495300"/>
            </a:xfrm>
            <a:prstGeom prst="roundRect">
              <a:avLst>
                <a:gd name="adj" fmla="val 15385"/>
              </a:avLst>
            </a:prstGeom>
            <a:noFill/>
            <a:ln w="14288">
              <a:solidFill>
                <a:srgbClr val="786873"/>
              </a:solidFill>
            </a:ln>
          </p:spPr>
        </p:sp>
        <p:sp>
          <p:nvSpPr>
            <p:cNvPr id="20" name="TextBox 20"/>
            <p:cNvSpPr/>
            <p:nvPr/>
          </p:nvSpPr>
          <p:spPr>
            <a:xfrm>
              <a:off x="3904012" y="3403568"/>
              <a:ext cx="133588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5" tIns="32" rIns="0" bIns="0" anchor="t" anchorCtr="0">
              <a:noAutofit/>
            </a:bodyPr>
            <a:lstStyle/>
            <a:p>
              <a:pPr algn="ctr"/>
              <a:r>
                <a:rPr lang="en-US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reviewing</a:t>
              </a:r>
              <a:endParaRPr lang="en-US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1" name="Line 21"/>
            <p:cNvSpPr/>
            <p:nvPr/>
          </p:nvSpPr>
          <p:spPr>
            <a:xfrm>
              <a:off x="5600700" y="3581400"/>
              <a:ext cx="361950" cy="247650"/>
            </a:xfrm>
            <a:prstGeom prst="line">
              <a:avLst/>
            </a:prstGeom>
            <a:noFill/>
            <a:ln w="19050">
              <a:solidFill>
                <a:srgbClr val="342B33"/>
              </a:solidFill>
              <a:tailEnd type="arrow" w="lg" len="lg"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000750" y="3657600"/>
              <a:ext cx="2038350" cy="533400"/>
            </a:xfrm>
            <a:prstGeom prst="roundRect">
              <a:avLst>
                <a:gd name="adj" fmla="val 14286"/>
              </a:avLst>
            </a:prstGeom>
            <a:noFill/>
            <a:ln w="14288">
              <a:solidFill>
                <a:srgbClr val="786873"/>
              </a:solidFill>
            </a:ln>
          </p:spPr>
        </p:sp>
        <p:sp>
          <p:nvSpPr>
            <p:cNvPr id="23" name="TextBox 23"/>
            <p:cNvSpPr/>
            <p:nvPr/>
          </p:nvSpPr>
          <p:spPr>
            <a:xfrm>
              <a:off x="6382893" y="3676650"/>
              <a:ext cx="1274064" cy="5703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>
                <a:lnSpc>
                  <a:spcPts val="1950"/>
                </a:lnSpc>
              </a:pPr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停止角色回复</a:t>
              </a:r>
              <a:b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失效活动代次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" name="Line 24"/>
            <p:cNvSpPr/>
            <p:nvPr/>
          </p:nvSpPr>
          <p:spPr>
            <a:xfrm flipH="1">
              <a:off x="3181350" y="4019550"/>
              <a:ext cx="2819400" cy="514350"/>
            </a:xfrm>
            <a:prstGeom prst="line">
              <a:avLst/>
            </a:prstGeom>
            <a:noFill/>
            <a:ln w="19050">
              <a:solidFill>
                <a:srgbClr val="342B33"/>
              </a:solidFill>
              <a:tailEnd type="arrow" w="lg" len="lg"/>
            </a:ln>
          </p:spPr>
        </p:sp>
        <p:sp>
          <p:nvSpPr>
            <p:cNvPr id="25" name="Rectangle 25"/>
            <p:cNvSpPr/>
            <p:nvPr/>
          </p:nvSpPr>
          <p:spPr>
            <a:xfrm>
              <a:off x="1047750" y="4362450"/>
              <a:ext cx="2095500" cy="457200"/>
            </a:xfrm>
            <a:prstGeom prst="roundRect">
              <a:avLst>
                <a:gd name="adj" fmla="val 16667"/>
              </a:avLst>
            </a:prstGeom>
            <a:noFill/>
            <a:ln w="14288">
              <a:solidFill>
                <a:srgbClr val="786873"/>
              </a:solidFill>
            </a:ln>
          </p:spPr>
        </p:sp>
        <p:sp>
          <p:nvSpPr>
            <p:cNvPr id="26" name="TextBox 26"/>
            <p:cNvSpPr/>
            <p:nvPr/>
          </p:nvSpPr>
          <p:spPr>
            <a:xfrm>
              <a:off x="1095375" y="4432268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ctr"/>
              <a:r>
                <a:rPr lang="zh-CN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选本人认可表达</a:t>
              </a:r>
              <a:endParaRPr lang="zh-CN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7" name="Line 27"/>
            <p:cNvSpPr/>
            <p:nvPr/>
          </p:nvSpPr>
          <p:spPr>
            <a:xfrm>
              <a:off x="3143250" y="4591050"/>
              <a:ext cx="2819400" cy="0"/>
            </a:xfrm>
            <a:prstGeom prst="line">
              <a:avLst/>
            </a:prstGeom>
            <a:noFill/>
            <a:ln w="19050">
              <a:solidFill>
                <a:srgbClr val="342B33"/>
              </a:solidFill>
              <a:tailEnd type="arrow" w="lg" len="lg"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000750" y="4343400"/>
              <a:ext cx="2038350" cy="514350"/>
            </a:xfrm>
            <a:prstGeom prst="roundRect">
              <a:avLst>
                <a:gd name="adj" fmla="val 14815"/>
              </a:avLst>
            </a:prstGeom>
            <a:noFill/>
            <a:ln w="14288">
              <a:solidFill>
                <a:srgbClr val="786873"/>
              </a:solidFill>
            </a:ln>
          </p:spPr>
        </p:sp>
        <p:sp>
          <p:nvSpPr>
            <p:cNvPr id="29" name="TextBox 29"/>
            <p:cNvSpPr/>
            <p:nvPr/>
          </p:nvSpPr>
          <p:spPr>
            <a:xfrm>
              <a:off x="6245447" y="4464082"/>
              <a:ext cx="15489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新AI许可后整理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0" name="Line 30"/>
            <p:cNvSpPr/>
            <p:nvPr/>
          </p:nvSpPr>
          <p:spPr>
            <a:xfrm flipH="1">
              <a:off x="5638800" y="4838700"/>
              <a:ext cx="361950" cy="361950"/>
            </a:xfrm>
            <a:prstGeom prst="line">
              <a:avLst/>
            </a:prstGeom>
            <a:noFill/>
            <a:ln w="19050">
              <a:solidFill>
                <a:srgbClr val="342B33"/>
              </a:solidFill>
              <a:tailEnd type="arrow" w="lg" len="lg"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543300" y="4991100"/>
              <a:ext cx="2057400" cy="457200"/>
            </a:xfrm>
            <a:prstGeom prst="roundRect">
              <a:avLst>
                <a:gd name="adj" fmla="val 16667"/>
              </a:avLst>
            </a:prstGeom>
            <a:noFill/>
            <a:ln w="14288">
              <a:solidFill>
                <a:srgbClr val="786873"/>
              </a:solidFill>
            </a:ln>
          </p:spPr>
        </p:sp>
        <p:sp>
          <p:nvSpPr>
            <p:cNvPr id="32" name="TextBox 32"/>
            <p:cNvSpPr/>
            <p:nvPr/>
          </p:nvSpPr>
          <p:spPr>
            <a:xfrm>
              <a:off x="4024217" y="5060918"/>
              <a:ext cx="10955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ctr"/>
              <a:r>
                <a:rPr lang="en-US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preview</a:t>
              </a:r>
              <a:endParaRPr lang="en-US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3" name="Line 33"/>
            <p:cNvSpPr/>
            <p:nvPr/>
          </p:nvSpPr>
          <p:spPr>
            <a:xfrm>
              <a:off x="5600700" y="5219700"/>
              <a:ext cx="2971800" cy="0"/>
            </a:xfrm>
            <a:prstGeom prst="line">
              <a:avLst/>
            </a:prstGeom>
            <a:noFill/>
            <a:ln w="19050">
              <a:solidFill>
                <a:srgbClr val="342B33"/>
              </a:solidFill>
              <a:tailEnd type="arrow" w="lg" len="lg"/>
            </a:ln>
          </p:spPr>
        </p:sp>
        <p:sp>
          <p:nvSpPr>
            <p:cNvPr id="34" name="TextBox 34"/>
            <p:cNvSpPr/>
            <p:nvPr/>
          </p:nvSpPr>
          <p:spPr>
            <a:xfrm>
              <a:off x="6601968" y="4883182"/>
              <a:ext cx="11994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新SAVE许可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8610600" y="4991100"/>
              <a:ext cx="2247900" cy="457200"/>
            </a:xfrm>
            <a:prstGeom prst="roundRect">
              <a:avLst>
                <a:gd name="adj" fmla="val 16667"/>
              </a:avLst>
            </a:prstGeom>
            <a:noFill/>
            <a:ln w="14288">
              <a:solidFill>
                <a:srgbClr val="786873"/>
              </a:solidFill>
            </a:ln>
          </p:spPr>
        </p:sp>
        <p:sp>
          <p:nvSpPr>
            <p:cNvPr id="36" name="TextBox 36"/>
            <p:cNvSpPr/>
            <p:nvPr/>
          </p:nvSpPr>
          <p:spPr>
            <a:xfrm>
              <a:off x="8875776" y="5060918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ctr"/>
              <a:r>
                <a:rPr lang="zh-CN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提交认可表达</a:t>
              </a:r>
              <a:endParaRPr lang="zh-CN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7" name="Ellipse 37"/>
            <p:cNvSpPr/>
            <p:nvPr/>
          </p:nvSpPr>
          <p:spPr>
            <a:xfrm>
              <a:off x="10991850" y="5124450"/>
              <a:ext cx="190500" cy="190500"/>
            </a:xfrm>
            <a:prstGeom prst="ellipse">
              <a:avLst/>
            </a:prstGeom>
            <a:noFill/>
            <a:ln w="19050">
              <a:solidFill>
                <a:srgbClr val="352C34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11029950" y="5162550"/>
              <a:ext cx="114300" cy="114300"/>
            </a:xfrm>
            <a:prstGeom prst="ellipse">
              <a:avLst/>
            </a:prstGeom>
            <a:solidFill>
              <a:srgbClr val="352C34"/>
            </a:solidFill>
            <a:ln>
              <a:noFill/>
            </a:ln>
          </p:spPr>
        </p:sp>
      </p:grpSp>
      <p:grpSp>
        <p:nvGrpSpPr>
          <p:cNvPr id="41" name="end"/>
          <p:cNvGrpSpPr/>
          <p:nvPr/>
        </p:nvGrpSpPr>
        <p:grpSpPr>
          <a:xfrm>
            <a:off x="902208" y="5689568"/>
            <a:ext cx="8394002" cy="469392"/>
            <a:chOff x="902208" y="5689568"/>
            <a:chExt cx="8394002" cy="469392"/>
          </a:xfrm>
        </p:grpSpPr>
        <p:sp>
          <p:nvSpPr>
            <p:cNvPr id="40" name="TextBox 40"/>
            <p:cNvSpPr/>
            <p:nvPr/>
          </p:nvSpPr>
          <p:spPr>
            <a:xfrm>
              <a:off x="902208" y="5689568"/>
              <a:ext cx="839400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4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SAVE核实后才进入saved；</a:t>
              </a:r>
              <a:r>
                <a:rPr lang="en-US" sz="2400" b="1" dirty="0">
                  <a:solidFill>
                    <a:srgbClr val="71364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END</a:t>
              </a:r>
              <a:r>
                <a:rPr lang="zh-CN" sz="24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才清除整轮临时内容与许可</a:t>
              </a:r>
              <a:endParaRPr lang="zh-CN" sz="24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43" name="TextBox 43"/>
          <p:cNvSpPr/>
          <p:nvPr/>
        </p:nvSpPr>
        <p:spPr>
          <a:xfrm>
            <a:off x="10511980" y="6362700"/>
            <a:ext cx="77171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786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 / 24</a:t>
            </a:r>
            <a:endParaRPr lang="zh-CN" sz="1200" dirty="0">
              <a:solidFill>
                <a:srgbClr val="7868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Line 62"/>
          <p:cNvSpPr/>
          <p:nvPr/>
        </p:nvSpPr>
        <p:spPr>
          <a:xfrm>
            <a:off x="904875" y="6229350"/>
            <a:ext cx="10382250" cy="9525"/>
          </a:xfrm>
          <a:custGeom>
            <a:avLst/>
            <a:gdLst/>
            <a:ahLst/>
            <a:cxnLst/>
            <a:rect l="l" t="t" r="r" b="b"/>
            <a:pathLst>
              <a:path w="10382250" h="9525">
                <a:moveTo>
                  <a:pt x="0" y="0"/>
                </a:moveTo>
                <a:lnTo>
                  <a:pt x="10382250" y="0"/>
                </a:lnTo>
              </a:path>
            </a:pathLst>
          </a:custGeom>
          <a:noFill/>
          <a:ln w="9525">
            <a:solidFill>
              <a:srgbClr val="E9DCE3"/>
            </a:solidFill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914400" y="12573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38100">
            <a:solidFill>
              <a:srgbClr val="BE6485"/>
            </a:solidFill>
          </a:ln>
        </p:spPr>
      </p:sp>
      <p:grpSp>
        <p:nvGrpSpPr>
          <p:cNvPr id="4" name="title"/>
          <p:cNvGrpSpPr/>
          <p:nvPr/>
        </p:nvGrpSpPr>
        <p:grpSpPr>
          <a:xfrm>
            <a:off x="897636" y="431768"/>
            <a:ext cx="10477500" cy="645414"/>
            <a:chOff x="897636" y="431768"/>
            <a:chExt cx="10477500" cy="645414"/>
          </a:xfrm>
        </p:grpSpPr>
        <p:sp>
          <p:nvSpPr>
            <p:cNvPr id="3" name="TextBox 3"/>
            <p:cNvSpPr/>
            <p:nvPr/>
          </p:nvSpPr>
          <p:spPr>
            <a:xfrm>
              <a:off x="897636" y="431768"/>
              <a:ext cx="104775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rgbClr val="71364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ER：统一归属，按类型扩展</a:t>
              </a:r>
              <a:endParaRPr lang="zh-CN" sz="3300" b="1" dirty="0">
                <a:solidFill>
                  <a:srgbClr val="7136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8" name="core-er"/>
          <p:cNvGrpSpPr/>
          <p:nvPr/>
        </p:nvGrpSpPr>
        <p:grpSpPr>
          <a:xfrm>
            <a:off x="933450" y="2247900"/>
            <a:ext cx="10325100" cy="2876550"/>
            <a:chOff x="933450" y="2247900"/>
            <a:chExt cx="10325100" cy="2876550"/>
          </a:xfrm>
        </p:grpSpPr>
        <p:sp>
          <p:nvSpPr>
            <p:cNvPr id="7" name="Line 7"/>
            <p:cNvSpPr/>
            <p:nvPr/>
          </p:nvSpPr>
          <p:spPr>
            <a:xfrm>
              <a:off x="3200400" y="2781300"/>
              <a:ext cx="1276350" cy="609600"/>
            </a:xfrm>
            <a:custGeom>
              <a:avLst/>
              <a:gdLst/>
              <a:ahLst/>
              <a:cxnLst/>
              <a:rect l="l" t="t" r="r" b="b"/>
              <a:pathLst>
                <a:path w="1276350" h="609600">
                  <a:moveTo>
                    <a:pt x="0" y="0"/>
                  </a:moveTo>
                  <a:lnTo>
                    <a:pt x="1276350" y="609600"/>
                  </a:lnTo>
                </a:path>
              </a:pathLst>
            </a:custGeom>
            <a:noFill/>
            <a:ln w="19050">
              <a:solidFill>
                <a:srgbClr val="352C34"/>
              </a:solidFill>
            </a:ln>
          </p:spPr>
        </p:sp>
        <p:sp>
          <p:nvSpPr>
            <p:cNvPr id="8" name="TextBox 8"/>
            <p:cNvSpPr/>
            <p:nvPr/>
          </p:nvSpPr>
          <p:spPr>
            <a:xfrm>
              <a:off x="3325368" y="2654332"/>
              <a:ext cx="1389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" name="TextBox 9"/>
            <p:cNvSpPr/>
            <p:nvPr/>
          </p:nvSpPr>
          <p:spPr>
            <a:xfrm>
              <a:off x="4163568" y="3073432"/>
              <a:ext cx="5053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0..*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" name="Line 10"/>
            <p:cNvSpPr/>
            <p:nvPr/>
          </p:nvSpPr>
          <p:spPr>
            <a:xfrm>
              <a:off x="3200400" y="4000500"/>
              <a:ext cx="1276350" cy="609600"/>
            </a:xfrm>
            <a:custGeom>
              <a:avLst/>
              <a:gdLst/>
              <a:ahLst/>
              <a:cxnLst/>
              <a:rect l="l" t="t" r="r" b="b"/>
              <a:pathLst>
                <a:path w="1276350" h="609600">
                  <a:moveTo>
                    <a:pt x="0" y="609600"/>
                  </a:moveTo>
                  <a:lnTo>
                    <a:pt x="1276350" y="0"/>
                  </a:lnTo>
                </a:path>
              </a:pathLst>
            </a:custGeom>
            <a:noFill/>
            <a:ln w="19050">
              <a:solidFill>
                <a:srgbClr val="352C34"/>
              </a:solidFill>
            </a:ln>
          </p:spPr>
        </p:sp>
        <p:sp>
          <p:nvSpPr>
            <p:cNvPr id="11" name="TextBox 11"/>
            <p:cNvSpPr/>
            <p:nvPr/>
          </p:nvSpPr>
          <p:spPr>
            <a:xfrm>
              <a:off x="3325368" y="4349782"/>
              <a:ext cx="1389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" name="TextBox 12"/>
            <p:cNvSpPr/>
            <p:nvPr/>
          </p:nvSpPr>
          <p:spPr>
            <a:xfrm>
              <a:off x="4163568" y="4025932"/>
              <a:ext cx="5053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0..*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" name="Line 13"/>
            <p:cNvSpPr/>
            <p:nvPr/>
          </p:nvSpPr>
          <p:spPr>
            <a:xfrm>
              <a:off x="7334250" y="2609850"/>
              <a:ext cx="1466850" cy="590550"/>
            </a:xfrm>
            <a:custGeom>
              <a:avLst/>
              <a:gdLst/>
              <a:ahLst/>
              <a:cxnLst/>
              <a:rect l="l" t="t" r="r" b="b"/>
              <a:pathLst>
                <a:path w="1466850" h="590550">
                  <a:moveTo>
                    <a:pt x="0" y="590550"/>
                  </a:moveTo>
                  <a:lnTo>
                    <a:pt x="1466850" y="0"/>
                  </a:lnTo>
                </a:path>
              </a:pathLst>
            </a:custGeom>
            <a:noFill/>
            <a:ln w="19050">
              <a:solidFill>
                <a:srgbClr val="352C34"/>
              </a:solidFill>
            </a:ln>
          </p:spPr>
        </p:sp>
        <p:sp>
          <p:nvSpPr>
            <p:cNvPr id="14" name="TextBox 14"/>
            <p:cNvSpPr/>
            <p:nvPr/>
          </p:nvSpPr>
          <p:spPr>
            <a:xfrm>
              <a:off x="7459218" y="2825782"/>
              <a:ext cx="1389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5" name="TextBox 15"/>
            <p:cNvSpPr/>
            <p:nvPr/>
          </p:nvSpPr>
          <p:spPr>
            <a:xfrm>
              <a:off x="8240268" y="2406682"/>
              <a:ext cx="5053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0..*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Line 16"/>
            <p:cNvSpPr/>
            <p:nvPr/>
          </p:nvSpPr>
          <p:spPr>
            <a:xfrm>
              <a:off x="7334250" y="3676650"/>
              <a:ext cx="1466850" cy="9525"/>
            </a:xfrm>
            <a:custGeom>
              <a:avLst/>
              <a:gdLst/>
              <a:ahLst/>
              <a:cxnLst/>
              <a:rect l="l" t="t" r="r" b="b"/>
              <a:pathLst>
                <a:path w="1466850" h="9525">
                  <a:moveTo>
                    <a:pt x="0" y="0"/>
                  </a:moveTo>
                  <a:lnTo>
                    <a:pt x="1466850" y="0"/>
                  </a:lnTo>
                </a:path>
              </a:pathLst>
            </a:custGeom>
            <a:noFill/>
            <a:ln w="19050">
              <a:solidFill>
                <a:srgbClr val="352C34"/>
              </a:solidFill>
            </a:ln>
          </p:spPr>
        </p:sp>
        <p:sp>
          <p:nvSpPr>
            <p:cNvPr id="17" name="TextBox 17"/>
            <p:cNvSpPr/>
            <p:nvPr/>
          </p:nvSpPr>
          <p:spPr>
            <a:xfrm>
              <a:off x="7459218" y="3359182"/>
              <a:ext cx="1389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" name="TextBox 18"/>
            <p:cNvSpPr/>
            <p:nvPr/>
          </p:nvSpPr>
          <p:spPr>
            <a:xfrm>
              <a:off x="8183118" y="3359182"/>
              <a:ext cx="5053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0..1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" name="Line 19"/>
            <p:cNvSpPr/>
            <p:nvPr/>
          </p:nvSpPr>
          <p:spPr>
            <a:xfrm>
              <a:off x="7334250" y="4171950"/>
              <a:ext cx="1466850" cy="590550"/>
            </a:xfrm>
            <a:custGeom>
              <a:avLst/>
              <a:gdLst/>
              <a:ahLst/>
              <a:cxnLst/>
              <a:rect l="l" t="t" r="r" b="b"/>
              <a:pathLst>
                <a:path w="1466850" h="590550">
                  <a:moveTo>
                    <a:pt x="0" y="0"/>
                  </a:moveTo>
                  <a:lnTo>
                    <a:pt x="1466850" y="590550"/>
                  </a:lnTo>
                </a:path>
              </a:pathLst>
            </a:custGeom>
            <a:noFill/>
            <a:ln w="19050">
              <a:solidFill>
                <a:srgbClr val="352C34"/>
              </a:solidFill>
            </a:ln>
          </p:spPr>
        </p:sp>
        <p:sp>
          <p:nvSpPr>
            <p:cNvPr id="20" name="TextBox 20"/>
            <p:cNvSpPr/>
            <p:nvPr/>
          </p:nvSpPr>
          <p:spPr>
            <a:xfrm>
              <a:off x="7459218" y="4235482"/>
              <a:ext cx="1389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1" name="TextBox 21"/>
            <p:cNvSpPr/>
            <p:nvPr/>
          </p:nvSpPr>
          <p:spPr>
            <a:xfrm>
              <a:off x="8183118" y="4749832"/>
              <a:ext cx="5053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0..1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33450" y="2400300"/>
              <a:ext cx="2266950" cy="762000"/>
            </a:xfrm>
            <a:prstGeom prst="rect">
              <a:avLst/>
            </a:prstGeom>
            <a:noFill/>
            <a:ln w="14288">
              <a:solidFill>
                <a:srgbClr val="786873"/>
              </a:solidFill>
            </a:ln>
          </p:spPr>
        </p:sp>
        <p:sp>
          <p:nvSpPr>
            <p:cNvPr id="23" name="TextBox 23"/>
            <p:cNvSpPr/>
            <p:nvPr/>
          </p:nvSpPr>
          <p:spPr>
            <a:xfrm>
              <a:off x="1182719" y="2470118"/>
              <a:ext cx="17492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5" tIns="32" rIns="0" bIns="0" anchor="t" anchorCtr="0">
              <a:noAutofit/>
            </a:bodyPr>
            <a:lstStyle/>
            <a:p>
              <a:pPr algn="ctr"/>
              <a:r>
                <a:rPr lang="en-US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UserAccount</a:t>
              </a:r>
              <a:endParaRPr lang="en-US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" name="TextBox 24"/>
            <p:cNvSpPr/>
            <p:nvPr/>
          </p:nvSpPr>
          <p:spPr>
            <a:xfrm>
              <a:off x="1826895" y="282578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账号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933450" y="4229100"/>
              <a:ext cx="2266950" cy="762000"/>
            </a:xfrm>
            <a:prstGeom prst="rect">
              <a:avLst/>
            </a:prstGeom>
            <a:noFill/>
            <a:ln w="14288">
              <a:solidFill>
                <a:srgbClr val="786873"/>
              </a:solidFill>
            </a:ln>
          </p:spPr>
        </p:sp>
        <p:sp>
          <p:nvSpPr>
            <p:cNvPr id="26" name="TextBox 26"/>
            <p:cNvSpPr/>
            <p:nvPr/>
          </p:nvSpPr>
          <p:spPr>
            <a:xfrm>
              <a:off x="1296257" y="4298918"/>
              <a:ext cx="152228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ctr"/>
              <a:r>
                <a:rPr lang="en-US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EntryPoint</a:t>
              </a:r>
              <a:endParaRPr lang="en-US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7" name="TextBox 27"/>
            <p:cNvSpPr/>
            <p:nvPr/>
          </p:nvSpPr>
          <p:spPr>
            <a:xfrm>
              <a:off x="1604772" y="46545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可信入口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495800" y="2762250"/>
              <a:ext cx="2819400" cy="1962150"/>
            </a:xfrm>
            <a:prstGeom prst="rect">
              <a:avLst/>
            </a:prstGeom>
            <a:noFill/>
            <a:ln w="14288">
              <a:solidFill>
                <a:srgbClr val="786873"/>
              </a:solidFill>
            </a:ln>
          </p:spPr>
        </p:sp>
        <p:sp>
          <p:nvSpPr>
            <p:cNvPr id="29" name="TextBox 29"/>
            <p:cNvSpPr/>
            <p:nvPr/>
          </p:nvSpPr>
          <p:spPr>
            <a:xfrm>
              <a:off x="4987671" y="2908268"/>
              <a:ext cx="183565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ctr"/>
              <a:r>
                <a:rPr lang="en-US" sz="2100" b="1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SavedRecord</a:t>
              </a:r>
              <a:endParaRPr lang="en-US" sz="2100" b="1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0" name="Line 30"/>
            <p:cNvSpPr/>
            <p:nvPr/>
          </p:nvSpPr>
          <p:spPr>
            <a:xfrm>
              <a:off x="4495800" y="3333750"/>
              <a:ext cx="2819400" cy="9525"/>
            </a:xfrm>
            <a:custGeom>
              <a:avLst/>
              <a:gdLst/>
              <a:ahLst/>
              <a:cxnLst/>
              <a:rect l="l" t="t" r="r" b="b"/>
              <a:pathLst>
                <a:path w="2819400" h="9525">
                  <a:moveTo>
                    <a:pt x="0" y="0"/>
                  </a:moveTo>
                  <a:lnTo>
                    <a:pt x="2819400" y="0"/>
                  </a:lnTo>
                </a:path>
              </a:pathLst>
            </a:custGeom>
            <a:noFill/>
            <a:ln w="9525">
              <a:solidFill>
                <a:srgbClr val="786873"/>
              </a:solidFill>
            </a:ln>
          </p:spPr>
        </p:sp>
        <p:sp>
          <p:nvSpPr>
            <p:cNvPr id="31" name="TextBox 31"/>
            <p:cNvSpPr/>
            <p:nvPr/>
          </p:nvSpPr>
          <p:spPr>
            <a:xfrm>
              <a:off x="4677918" y="3409950"/>
              <a:ext cx="2646616" cy="11228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PK id；FK account / entry</a:t>
              </a:r>
              <a:b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en-US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kind / version / requestId</a:t>
              </a:r>
              <a:br>
                <a:rPr lang="en-US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统一主动保存快照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820150" y="2247900"/>
              <a:ext cx="2438400" cy="723900"/>
            </a:xfrm>
            <a:prstGeom prst="rect">
              <a:avLst/>
            </a:prstGeom>
            <a:noFill/>
            <a:ln w="14288">
              <a:solidFill>
                <a:srgbClr val="786873"/>
              </a:solidFill>
            </a:ln>
          </p:spPr>
        </p:sp>
        <p:sp>
          <p:nvSpPr>
            <p:cNvPr id="33" name="TextBox 33"/>
            <p:cNvSpPr/>
            <p:nvPr/>
          </p:nvSpPr>
          <p:spPr>
            <a:xfrm>
              <a:off x="9058466" y="2432018"/>
              <a:ext cx="19618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95" bIns="0" anchor="t" anchorCtr="0">
              <a:noAutofit/>
            </a:bodyPr>
            <a:lstStyle/>
            <a:p>
              <a:pPr algn="ctr"/>
              <a:r>
                <a:rPr lang="en-US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SavedMessage</a:t>
              </a:r>
              <a:endParaRPr lang="en-US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820150" y="3314700"/>
              <a:ext cx="2438400" cy="723900"/>
            </a:xfrm>
            <a:prstGeom prst="rect">
              <a:avLst/>
            </a:prstGeom>
            <a:noFill/>
            <a:ln w="14288">
              <a:solidFill>
                <a:srgbClr val="786873"/>
              </a:solidFill>
            </a:ln>
          </p:spPr>
        </p:sp>
        <p:sp>
          <p:nvSpPr>
            <p:cNvPr id="35" name="TextBox 35"/>
            <p:cNvSpPr/>
            <p:nvPr/>
          </p:nvSpPr>
          <p:spPr>
            <a:xfrm>
              <a:off x="9016365" y="3498818"/>
              <a:ext cx="20459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ctr"/>
              <a:r>
                <a:rPr lang="en-US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EmotionRecord</a:t>
              </a:r>
              <a:endParaRPr lang="en-US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820150" y="4400550"/>
              <a:ext cx="2438400" cy="723900"/>
            </a:xfrm>
            <a:prstGeom prst="rect">
              <a:avLst/>
            </a:prstGeom>
            <a:noFill/>
            <a:ln w="14288">
              <a:solidFill>
                <a:srgbClr val="786873"/>
              </a:solidFill>
            </a:ln>
          </p:spPr>
        </p:sp>
        <p:sp>
          <p:nvSpPr>
            <p:cNvPr id="37" name="TextBox 37"/>
            <p:cNvSpPr/>
            <p:nvPr/>
          </p:nvSpPr>
          <p:spPr>
            <a:xfrm>
              <a:off x="9213818" y="4584668"/>
              <a:ext cx="16509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5" tIns="32" rIns="0" bIns="0" anchor="t" anchorCtr="0">
              <a:noAutofit/>
            </a:bodyPr>
            <a:lstStyle/>
            <a:p>
              <a:pPr algn="ctr"/>
              <a:r>
                <a:rPr lang="en-US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SavedQuery</a:t>
              </a:r>
              <a:endParaRPr lang="en-US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42" name="TextBox 42"/>
          <p:cNvSpPr/>
          <p:nvPr/>
        </p:nvSpPr>
        <p:spPr>
          <a:xfrm>
            <a:off x="10730294" y="6362700"/>
            <a:ext cx="5534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786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/ 24</a:t>
            </a:r>
            <a:endParaRPr lang="zh-CN" sz="1200" dirty="0">
              <a:solidFill>
                <a:srgbClr val="7868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Line 68"/>
          <p:cNvSpPr/>
          <p:nvPr/>
        </p:nvSpPr>
        <p:spPr>
          <a:xfrm>
            <a:off x="904875" y="6229350"/>
            <a:ext cx="10382250" cy="9525"/>
          </a:xfrm>
          <a:custGeom>
            <a:avLst/>
            <a:gdLst/>
            <a:ahLst/>
            <a:cxnLst/>
            <a:rect l="l" t="t" r="r" b="b"/>
            <a:pathLst>
              <a:path w="10382250" h="9525">
                <a:moveTo>
                  <a:pt x="0" y="0"/>
                </a:moveTo>
                <a:lnTo>
                  <a:pt x="10382250" y="0"/>
                </a:lnTo>
              </a:path>
            </a:pathLst>
          </a:custGeom>
          <a:noFill/>
          <a:ln w="9525">
            <a:solidFill>
              <a:srgbClr val="E9DCE3"/>
            </a:solidFill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914400" y="12573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38100">
            <a:solidFill>
              <a:srgbClr val="BE6485"/>
            </a:solidFill>
          </a:ln>
        </p:spPr>
      </p:sp>
      <p:grpSp>
        <p:nvGrpSpPr>
          <p:cNvPr id="4" name="title"/>
          <p:cNvGrpSpPr/>
          <p:nvPr/>
        </p:nvGrpSpPr>
        <p:grpSpPr>
          <a:xfrm>
            <a:off x="897636" y="431768"/>
            <a:ext cx="10477500" cy="645414"/>
            <a:chOff x="897636" y="431768"/>
            <a:chExt cx="10477500" cy="645414"/>
          </a:xfrm>
        </p:grpSpPr>
        <p:sp>
          <p:nvSpPr>
            <p:cNvPr id="3" name="TextBox 3"/>
            <p:cNvSpPr/>
            <p:nvPr/>
          </p:nvSpPr>
          <p:spPr>
            <a:xfrm>
              <a:off x="897636" y="431768"/>
              <a:ext cx="104775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rgbClr val="71364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ER：账号、会话与授权</a:t>
              </a:r>
              <a:endParaRPr lang="zh-CN" sz="3300" b="1" dirty="0">
                <a:solidFill>
                  <a:srgbClr val="7136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7" name="identity-er"/>
          <p:cNvGrpSpPr/>
          <p:nvPr/>
        </p:nvGrpSpPr>
        <p:grpSpPr>
          <a:xfrm>
            <a:off x="933450" y="2324100"/>
            <a:ext cx="10325100" cy="3452336"/>
            <a:chOff x="933450" y="2324100"/>
            <a:chExt cx="10325100" cy="3452336"/>
          </a:xfrm>
        </p:grpSpPr>
        <p:sp>
          <p:nvSpPr>
            <p:cNvPr id="7" name="Line 7"/>
            <p:cNvSpPr/>
            <p:nvPr/>
          </p:nvSpPr>
          <p:spPr>
            <a:xfrm>
              <a:off x="3619500" y="2705100"/>
              <a:ext cx="1123950" cy="9525"/>
            </a:xfrm>
            <a:custGeom>
              <a:avLst/>
              <a:gdLst/>
              <a:ahLst/>
              <a:cxnLst/>
              <a:rect l="l" t="t" r="r" b="b"/>
              <a:pathLst>
                <a:path w="1123950" h="9525">
                  <a:moveTo>
                    <a:pt x="0" y="0"/>
                  </a:moveTo>
                  <a:lnTo>
                    <a:pt x="1123950" y="0"/>
                  </a:lnTo>
                </a:path>
              </a:pathLst>
            </a:custGeom>
            <a:noFill/>
            <a:ln w="19050">
              <a:solidFill>
                <a:srgbClr val="352C34"/>
              </a:solidFill>
            </a:ln>
          </p:spPr>
        </p:sp>
        <p:sp>
          <p:nvSpPr>
            <p:cNvPr id="8" name="TextBox 8"/>
            <p:cNvSpPr/>
            <p:nvPr/>
          </p:nvSpPr>
          <p:spPr>
            <a:xfrm>
              <a:off x="3763518" y="2368582"/>
              <a:ext cx="1389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" name="TextBox 9"/>
            <p:cNvSpPr/>
            <p:nvPr/>
          </p:nvSpPr>
          <p:spPr>
            <a:xfrm>
              <a:off x="4506468" y="2368582"/>
              <a:ext cx="1389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" name="Line 10"/>
            <p:cNvSpPr/>
            <p:nvPr/>
          </p:nvSpPr>
          <p:spPr>
            <a:xfrm>
              <a:off x="3619500" y="3009900"/>
              <a:ext cx="1123950" cy="1028700"/>
            </a:xfrm>
            <a:custGeom>
              <a:avLst/>
              <a:gdLst/>
              <a:ahLst/>
              <a:cxnLst/>
              <a:rect l="l" t="t" r="r" b="b"/>
              <a:pathLst>
                <a:path w="1123950" h="1028700">
                  <a:moveTo>
                    <a:pt x="0" y="1028700"/>
                  </a:moveTo>
                  <a:lnTo>
                    <a:pt x="1123950" y="0"/>
                  </a:lnTo>
                </a:path>
              </a:pathLst>
            </a:custGeom>
            <a:noFill/>
            <a:ln w="19050">
              <a:solidFill>
                <a:srgbClr val="352C34"/>
              </a:solidFill>
            </a:ln>
          </p:spPr>
        </p:sp>
        <p:sp>
          <p:nvSpPr>
            <p:cNvPr id="11" name="TextBox 11"/>
            <p:cNvSpPr/>
            <p:nvPr/>
          </p:nvSpPr>
          <p:spPr>
            <a:xfrm>
              <a:off x="3763518" y="3702082"/>
              <a:ext cx="1389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" name="TextBox 12"/>
            <p:cNvSpPr/>
            <p:nvPr/>
          </p:nvSpPr>
          <p:spPr>
            <a:xfrm>
              <a:off x="4468368" y="2901982"/>
              <a:ext cx="1389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" name="Line 13"/>
            <p:cNvSpPr/>
            <p:nvPr/>
          </p:nvSpPr>
          <p:spPr>
            <a:xfrm>
              <a:off x="3619500" y="3219450"/>
              <a:ext cx="1123950" cy="2152650"/>
            </a:xfrm>
            <a:custGeom>
              <a:avLst/>
              <a:gdLst/>
              <a:ahLst/>
              <a:cxnLst/>
              <a:rect l="l" t="t" r="r" b="b"/>
              <a:pathLst>
                <a:path w="1123950" h="2152650">
                  <a:moveTo>
                    <a:pt x="0" y="2152650"/>
                  </a:moveTo>
                  <a:lnTo>
                    <a:pt x="1123950" y="0"/>
                  </a:lnTo>
                </a:path>
              </a:pathLst>
            </a:custGeom>
            <a:noFill/>
            <a:ln w="19050">
              <a:solidFill>
                <a:srgbClr val="352C34"/>
              </a:solidFill>
            </a:ln>
          </p:spPr>
        </p:sp>
        <p:sp>
          <p:nvSpPr>
            <p:cNvPr id="14" name="TextBox 14"/>
            <p:cNvSpPr/>
            <p:nvPr/>
          </p:nvSpPr>
          <p:spPr>
            <a:xfrm>
              <a:off x="3763518" y="5054632"/>
              <a:ext cx="1389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5" name="TextBox 15"/>
            <p:cNvSpPr/>
            <p:nvPr/>
          </p:nvSpPr>
          <p:spPr>
            <a:xfrm>
              <a:off x="4563618" y="3321082"/>
              <a:ext cx="1389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Line 16"/>
            <p:cNvSpPr/>
            <p:nvPr/>
          </p:nvSpPr>
          <p:spPr>
            <a:xfrm>
              <a:off x="7620000" y="270510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19050">
              <a:solidFill>
                <a:srgbClr val="352C34"/>
              </a:solidFill>
            </a:ln>
          </p:spPr>
        </p:sp>
        <p:sp>
          <p:nvSpPr>
            <p:cNvPr id="17" name="TextBox 17"/>
            <p:cNvSpPr/>
            <p:nvPr/>
          </p:nvSpPr>
          <p:spPr>
            <a:xfrm>
              <a:off x="7725918" y="2368582"/>
              <a:ext cx="1389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" name="TextBox 18"/>
            <p:cNvSpPr/>
            <p:nvPr/>
          </p:nvSpPr>
          <p:spPr>
            <a:xfrm>
              <a:off x="8106918" y="2368582"/>
              <a:ext cx="5053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0..*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" name="Line 19"/>
            <p:cNvSpPr/>
            <p:nvPr/>
          </p:nvSpPr>
          <p:spPr>
            <a:xfrm>
              <a:off x="6191250" y="3352800"/>
              <a:ext cx="9525" cy="1485900"/>
            </a:xfrm>
            <a:custGeom>
              <a:avLst/>
              <a:gdLst/>
              <a:ahLst/>
              <a:cxnLst/>
              <a:rect l="l" t="t" r="r" b="b"/>
              <a:pathLst>
                <a:path w="9525" h="1485900">
                  <a:moveTo>
                    <a:pt x="0" y="0"/>
                  </a:moveTo>
                  <a:lnTo>
                    <a:pt x="0" y="1485900"/>
                  </a:lnTo>
                </a:path>
              </a:pathLst>
            </a:custGeom>
            <a:noFill/>
            <a:ln w="19050">
              <a:solidFill>
                <a:srgbClr val="352C34"/>
              </a:solidFill>
            </a:ln>
          </p:spPr>
        </p:sp>
        <p:sp>
          <p:nvSpPr>
            <p:cNvPr id="20" name="TextBox 20"/>
            <p:cNvSpPr/>
            <p:nvPr/>
          </p:nvSpPr>
          <p:spPr>
            <a:xfrm>
              <a:off x="6354318" y="3397282"/>
              <a:ext cx="1389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1" name="TextBox 21"/>
            <p:cNvSpPr/>
            <p:nvPr/>
          </p:nvSpPr>
          <p:spPr>
            <a:xfrm>
              <a:off x="6354318" y="4464082"/>
              <a:ext cx="5053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0..*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" name="Line 22"/>
            <p:cNvSpPr/>
            <p:nvPr/>
          </p:nvSpPr>
          <p:spPr>
            <a:xfrm>
              <a:off x="7620000" y="5295900"/>
              <a:ext cx="971550" cy="9525"/>
            </a:xfrm>
            <a:custGeom>
              <a:avLst/>
              <a:gdLst/>
              <a:ahLst/>
              <a:cxnLst/>
              <a:rect l="l" t="t" r="r" b="b"/>
              <a:pathLst>
                <a:path w="971550" h="9525">
                  <a:moveTo>
                    <a:pt x="0" y="0"/>
                  </a:moveTo>
                  <a:lnTo>
                    <a:pt x="971550" y="0"/>
                  </a:lnTo>
                </a:path>
              </a:pathLst>
            </a:custGeom>
            <a:noFill/>
            <a:ln w="19050">
              <a:solidFill>
                <a:srgbClr val="352C34"/>
              </a:solidFill>
            </a:ln>
          </p:spPr>
        </p:sp>
        <p:sp>
          <p:nvSpPr>
            <p:cNvPr id="23" name="TextBox 23"/>
            <p:cNvSpPr/>
            <p:nvPr/>
          </p:nvSpPr>
          <p:spPr>
            <a:xfrm>
              <a:off x="7725918" y="4940332"/>
              <a:ext cx="5053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0..*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" name="TextBox 24"/>
            <p:cNvSpPr/>
            <p:nvPr/>
          </p:nvSpPr>
          <p:spPr>
            <a:xfrm>
              <a:off x="8354568" y="4940332"/>
              <a:ext cx="1389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5" name="Line 25"/>
            <p:cNvSpPr/>
            <p:nvPr/>
          </p:nvSpPr>
          <p:spPr>
            <a:xfrm>
              <a:off x="9925050" y="3352800"/>
              <a:ext cx="9525" cy="1485900"/>
            </a:xfrm>
            <a:custGeom>
              <a:avLst/>
              <a:gdLst/>
              <a:ahLst/>
              <a:cxnLst/>
              <a:rect l="l" t="t" r="r" b="b"/>
              <a:pathLst>
                <a:path w="9525" h="1485900">
                  <a:moveTo>
                    <a:pt x="0" y="0"/>
                  </a:moveTo>
                  <a:lnTo>
                    <a:pt x="0" y="1485900"/>
                  </a:lnTo>
                </a:path>
              </a:pathLst>
            </a:custGeom>
            <a:noFill/>
            <a:ln w="19050">
              <a:solidFill>
                <a:srgbClr val="352C34"/>
              </a:solidFill>
            </a:ln>
          </p:spPr>
        </p:sp>
        <p:sp>
          <p:nvSpPr>
            <p:cNvPr id="26" name="TextBox 26"/>
            <p:cNvSpPr/>
            <p:nvPr/>
          </p:nvSpPr>
          <p:spPr>
            <a:xfrm>
              <a:off x="10088118" y="3397282"/>
              <a:ext cx="5053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0..*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7" name="TextBox 27"/>
            <p:cNvSpPr/>
            <p:nvPr/>
          </p:nvSpPr>
          <p:spPr>
            <a:xfrm>
              <a:off x="10088118" y="4464082"/>
              <a:ext cx="1389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933450" y="2324100"/>
              <a:ext cx="2686050" cy="762000"/>
            </a:xfrm>
            <a:prstGeom prst="rect">
              <a:avLst/>
            </a:prstGeom>
            <a:noFill/>
            <a:ln w="14288">
              <a:solidFill>
                <a:srgbClr val="786873"/>
              </a:solidFill>
            </a:ln>
          </p:spPr>
        </p:sp>
        <p:sp>
          <p:nvSpPr>
            <p:cNvPr id="29" name="TextBox 29"/>
            <p:cNvSpPr/>
            <p:nvPr/>
          </p:nvSpPr>
          <p:spPr>
            <a:xfrm>
              <a:off x="1096518" y="2463832"/>
              <a:ext cx="21625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en-US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PasswordCredential</a:t>
              </a:r>
              <a:endParaRPr lang="en-US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0" name="TextBox 30"/>
            <p:cNvSpPr/>
            <p:nvPr/>
          </p:nvSpPr>
          <p:spPr>
            <a:xfrm>
              <a:off x="1096518" y="2768632"/>
              <a:ext cx="13902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Argon2id摘要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933450" y="3657600"/>
              <a:ext cx="2686050" cy="762000"/>
            </a:xfrm>
            <a:prstGeom prst="rect">
              <a:avLst/>
            </a:prstGeom>
            <a:noFill/>
            <a:ln w="14288">
              <a:solidFill>
                <a:srgbClr val="786873"/>
              </a:solidFill>
            </a:ln>
          </p:spPr>
        </p:sp>
        <p:sp>
          <p:nvSpPr>
            <p:cNvPr id="32" name="TextBox 32"/>
            <p:cNvSpPr/>
            <p:nvPr/>
          </p:nvSpPr>
          <p:spPr>
            <a:xfrm>
              <a:off x="1094232" y="3841718"/>
              <a:ext cx="160648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en-US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UserProfile</a:t>
              </a:r>
              <a:endParaRPr lang="en-US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933450" y="4991100"/>
              <a:ext cx="2686050" cy="762000"/>
            </a:xfrm>
            <a:prstGeom prst="rect">
              <a:avLst/>
            </a:prstGeom>
            <a:noFill/>
            <a:ln w="14288">
              <a:solidFill>
                <a:srgbClr val="786873"/>
              </a:solidFill>
            </a:ln>
          </p:spPr>
        </p:sp>
        <p:sp>
          <p:nvSpPr>
            <p:cNvPr id="34" name="TextBox 34"/>
            <p:cNvSpPr/>
            <p:nvPr/>
          </p:nvSpPr>
          <p:spPr>
            <a:xfrm>
              <a:off x="1094232" y="5041868"/>
              <a:ext cx="1634871" cy="7345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>
                <a:lnSpc>
                  <a:spcPts val="2550"/>
                </a:lnSpc>
              </a:pPr>
              <a:r>
                <a:rPr lang="en-US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Account</a:t>
              </a:r>
              <a:br>
                <a:rPr lang="en-US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en-US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Preferences</a:t>
              </a:r>
              <a:endParaRPr lang="en-US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4762500" y="2324100"/>
              <a:ext cx="2857500" cy="1028700"/>
            </a:xfrm>
            <a:prstGeom prst="rect">
              <a:avLst/>
            </a:prstGeom>
            <a:noFill/>
            <a:ln w="14288">
              <a:solidFill>
                <a:srgbClr val="786873"/>
              </a:solidFill>
            </a:ln>
          </p:spPr>
        </p:sp>
        <p:sp>
          <p:nvSpPr>
            <p:cNvPr id="36" name="TextBox 36"/>
            <p:cNvSpPr/>
            <p:nvPr/>
          </p:nvSpPr>
          <p:spPr>
            <a:xfrm>
              <a:off x="5273421" y="2508218"/>
              <a:ext cx="183565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ctr"/>
              <a:r>
                <a:rPr lang="en-US" sz="2100" b="1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UserAccount</a:t>
              </a:r>
              <a:endParaRPr lang="en-US" sz="2100" b="1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7" name="TextBox 37"/>
            <p:cNvSpPr/>
            <p:nvPr/>
          </p:nvSpPr>
          <p:spPr>
            <a:xfrm>
              <a:off x="5925884" y="2959132"/>
              <a:ext cx="5306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5" tIns="-32" rIns="0" bIns="0" anchor="t" anchorCtr="0">
              <a:noAutofit/>
            </a:bodyPr>
            <a:lstStyle/>
            <a:p>
              <a:pPr algn="ctr"/>
              <a:r>
                <a:rPr lang="en-US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PK id</a:t>
              </a:r>
              <a:endParaRPr lang="en-US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591550" y="2324100"/>
              <a:ext cx="2667000" cy="1028700"/>
            </a:xfrm>
            <a:prstGeom prst="rect">
              <a:avLst/>
            </a:prstGeom>
            <a:noFill/>
            <a:ln w="14288">
              <a:solidFill>
                <a:srgbClr val="786873"/>
              </a:solidFill>
            </a:ln>
          </p:spPr>
        </p:sp>
        <p:sp>
          <p:nvSpPr>
            <p:cNvPr id="39" name="TextBox 39"/>
            <p:cNvSpPr/>
            <p:nvPr/>
          </p:nvSpPr>
          <p:spPr>
            <a:xfrm>
              <a:off x="8771382" y="2412968"/>
              <a:ext cx="176212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en-US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LoginSession</a:t>
              </a:r>
              <a:endParaRPr lang="en-US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0" name="TextBox 40"/>
            <p:cNvSpPr/>
            <p:nvPr/>
          </p:nvSpPr>
          <p:spPr>
            <a:xfrm>
              <a:off x="8773668" y="2882932"/>
              <a:ext cx="23046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凭据摘要 / 过期 / 撤销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762500" y="4838700"/>
              <a:ext cx="2857500" cy="914400"/>
            </a:xfrm>
            <a:prstGeom prst="rect">
              <a:avLst/>
            </a:prstGeom>
            <a:noFill/>
            <a:ln w="14288">
              <a:solidFill>
                <a:srgbClr val="786873"/>
              </a:solidFill>
            </a:ln>
          </p:spPr>
        </p:sp>
        <p:sp>
          <p:nvSpPr>
            <p:cNvPr id="42" name="TextBox 42"/>
            <p:cNvSpPr/>
            <p:nvPr/>
          </p:nvSpPr>
          <p:spPr>
            <a:xfrm>
              <a:off x="4942332" y="4965668"/>
              <a:ext cx="19048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en-US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ConsentGrant</a:t>
              </a:r>
              <a:endParaRPr lang="en-US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3" name="TextBox 43"/>
            <p:cNvSpPr/>
            <p:nvPr/>
          </p:nvSpPr>
          <p:spPr>
            <a:xfrm>
              <a:off x="4944618" y="5378482"/>
              <a:ext cx="23046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用途 / 范围 / 资源版本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591550" y="4838700"/>
              <a:ext cx="2667000" cy="914400"/>
            </a:xfrm>
            <a:prstGeom prst="rect">
              <a:avLst/>
            </a:prstGeom>
            <a:noFill/>
            <a:ln w="14288">
              <a:solidFill>
                <a:srgbClr val="786873"/>
              </a:solidFill>
            </a:ln>
          </p:spPr>
        </p:sp>
        <p:sp>
          <p:nvSpPr>
            <p:cNvPr id="45" name="TextBox 45"/>
            <p:cNvSpPr/>
            <p:nvPr/>
          </p:nvSpPr>
          <p:spPr>
            <a:xfrm>
              <a:off x="9163907" y="4965668"/>
              <a:ext cx="152228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ctr"/>
              <a:r>
                <a:rPr lang="en-US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EntryPoint</a:t>
              </a:r>
              <a:endParaRPr lang="en-US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6" name="TextBox 46"/>
            <p:cNvSpPr/>
            <p:nvPr/>
          </p:nvSpPr>
          <p:spPr>
            <a:xfrm>
              <a:off x="9139238" y="537848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可信入口作用域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49" name="TextBox 49"/>
          <p:cNvSpPr/>
          <p:nvPr/>
        </p:nvSpPr>
        <p:spPr>
          <a:xfrm>
            <a:off x="10511980" y="6362700"/>
            <a:ext cx="77171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786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 / 24</a:t>
            </a:r>
            <a:endParaRPr lang="zh-CN" sz="1200" dirty="0">
              <a:solidFill>
                <a:srgbClr val="7868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Line 81"/>
          <p:cNvSpPr/>
          <p:nvPr/>
        </p:nvSpPr>
        <p:spPr>
          <a:xfrm>
            <a:off x="904875" y="6229350"/>
            <a:ext cx="10382250" cy="9525"/>
          </a:xfrm>
          <a:custGeom>
            <a:avLst/>
            <a:gdLst/>
            <a:ahLst/>
            <a:cxnLst/>
            <a:rect l="l" t="t" r="r" b="b"/>
            <a:pathLst>
              <a:path w="10382250" h="9525">
                <a:moveTo>
                  <a:pt x="0" y="0"/>
                </a:moveTo>
                <a:lnTo>
                  <a:pt x="10382250" y="0"/>
                </a:lnTo>
              </a:path>
            </a:pathLst>
          </a:custGeom>
          <a:noFill/>
          <a:ln w="9525">
            <a:solidFill>
              <a:srgbClr val="E9DCE3"/>
            </a:solidFill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914400" y="12573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38100">
            <a:solidFill>
              <a:srgbClr val="BE6485"/>
            </a:solidFill>
          </a:ln>
        </p:spPr>
      </p:sp>
      <p:grpSp>
        <p:nvGrpSpPr>
          <p:cNvPr id="4" name="title"/>
          <p:cNvGrpSpPr/>
          <p:nvPr/>
        </p:nvGrpSpPr>
        <p:grpSpPr>
          <a:xfrm>
            <a:off x="897636" y="431768"/>
            <a:ext cx="10477500" cy="645414"/>
            <a:chOff x="897636" y="431768"/>
            <a:chExt cx="10477500" cy="645414"/>
          </a:xfrm>
        </p:grpSpPr>
        <p:sp>
          <p:nvSpPr>
            <p:cNvPr id="3" name="TextBox 3"/>
            <p:cNvSpPr/>
            <p:nvPr/>
          </p:nvSpPr>
          <p:spPr>
            <a:xfrm>
              <a:off x="897636" y="431768"/>
              <a:ext cx="104775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rgbClr val="71364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ER局部：查询、主张与来源</a:t>
              </a:r>
              <a:endParaRPr lang="zh-CN" sz="3300" b="1" dirty="0">
                <a:solidFill>
                  <a:srgbClr val="7136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8" name="retrieval-er"/>
          <p:cNvGrpSpPr/>
          <p:nvPr/>
        </p:nvGrpSpPr>
        <p:grpSpPr>
          <a:xfrm>
            <a:off x="933450" y="2324100"/>
            <a:ext cx="10325100" cy="2952750"/>
            <a:chOff x="933450" y="2324100"/>
            <a:chExt cx="10325100" cy="2952750"/>
          </a:xfrm>
        </p:grpSpPr>
        <p:sp>
          <p:nvSpPr>
            <p:cNvPr id="7" name="Line 7"/>
            <p:cNvSpPr/>
            <p:nvPr/>
          </p:nvSpPr>
          <p:spPr>
            <a:xfrm>
              <a:off x="4743450" y="2781300"/>
              <a:ext cx="2705100" cy="9525"/>
            </a:xfrm>
            <a:custGeom>
              <a:avLst/>
              <a:gdLst/>
              <a:ahLst/>
              <a:cxnLst/>
              <a:rect l="l" t="t" r="r" b="b"/>
              <a:pathLst>
                <a:path w="2705100" h="9525">
                  <a:moveTo>
                    <a:pt x="0" y="0"/>
                  </a:moveTo>
                  <a:lnTo>
                    <a:pt x="2705100" y="0"/>
                  </a:lnTo>
                </a:path>
              </a:pathLst>
            </a:custGeom>
            <a:noFill/>
            <a:ln w="19050">
              <a:solidFill>
                <a:srgbClr val="352C34"/>
              </a:solidFill>
            </a:ln>
          </p:spPr>
        </p:sp>
        <p:sp>
          <p:nvSpPr>
            <p:cNvPr id="8" name="TextBox 8"/>
            <p:cNvSpPr/>
            <p:nvPr/>
          </p:nvSpPr>
          <p:spPr>
            <a:xfrm>
              <a:off x="4906518" y="2425732"/>
              <a:ext cx="1389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" name="TextBox 9"/>
            <p:cNvSpPr/>
            <p:nvPr/>
          </p:nvSpPr>
          <p:spPr>
            <a:xfrm>
              <a:off x="6887718" y="2425732"/>
              <a:ext cx="5053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0..*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" name="Line 10"/>
            <p:cNvSpPr/>
            <p:nvPr/>
          </p:nvSpPr>
          <p:spPr>
            <a:xfrm>
              <a:off x="9353550" y="333375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19050">
              <a:solidFill>
                <a:srgbClr val="352C34"/>
              </a:solidFill>
            </a:ln>
          </p:spPr>
        </p:sp>
        <p:sp>
          <p:nvSpPr>
            <p:cNvPr id="11" name="TextBox 11"/>
            <p:cNvSpPr/>
            <p:nvPr/>
          </p:nvSpPr>
          <p:spPr>
            <a:xfrm>
              <a:off x="9535668" y="3359182"/>
              <a:ext cx="1389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" name="TextBox 12"/>
            <p:cNvSpPr/>
            <p:nvPr/>
          </p:nvSpPr>
          <p:spPr>
            <a:xfrm>
              <a:off x="9535668" y="3816382"/>
              <a:ext cx="5053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0..*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" name="Line 13"/>
            <p:cNvSpPr/>
            <p:nvPr/>
          </p:nvSpPr>
          <p:spPr>
            <a:xfrm>
              <a:off x="4743450" y="4724400"/>
              <a:ext cx="2705100" cy="9525"/>
            </a:xfrm>
            <a:custGeom>
              <a:avLst/>
              <a:gdLst/>
              <a:ahLst/>
              <a:cxnLst/>
              <a:rect l="l" t="t" r="r" b="b"/>
              <a:pathLst>
                <a:path w="2705100" h="9525">
                  <a:moveTo>
                    <a:pt x="0" y="0"/>
                  </a:moveTo>
                  <a:lnTo>
                    <a:pt x="2705100" y="0"/>
                  </a:lnTo>
                </a:path>
              </a:pathLst>
            </a:custGeom>
            <a:noFill/>
            <a:ln w="19050">
              <a:solidFill>
                <a:srgbClr val="352C34"/>
              </a:solidFill>
            </a:ln>
          </p:spPr>
        </p:sp>
        <p:sp>
          <p:nvSpPr>
            <p:cNvPr id="14" name="TextBox 14"/>
            <p:cNvSpPr/>
            <p:nvPr/>
          </p:nvSpPr>
          <p:spPr>
            <a:xfrm>
              <a:off x="4906518" y="4349782"/>
              <a:ext cx="1389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5" name="TextBox 15"/>
            <p:cNvSpPr/>
            <p:nvPr/>
          </p:nvSpPr>
          <p:spPr>
            <a:xfrm>
              <a:off x="6887718" y="4349782"/>
              <a:ext cx="5053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0..*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933450" y="2324100"/>
              <a:ext cx="3790950" cy="1009650"/>
            </a:xfrm>
            <a:prstGeom prst="rect">
              <a:avLst/>
            </a:prstGeom>
            <a:noFill/>
            <a:ln w="14288">
              <a:solidFill>
                <a:srgbClr val="786873"/>
              </a:solidFill>
            </a:ln>
          </p:spPr>
        </p:sp>
        <p:sp>
          <p:nvSpPr>
            <p:cNvPr id="17" name="TextBox 17"/>
            <p:cNvSpPr/>
            <p:nvPr/>
          </p:nvSpPr>
          <p:spPr>
            <a:xfrm>
              <a:off x="1132332" y="2432018"/>
              <a:ext cx="173250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en-US" sz="2100" b="1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SavedQuery</a:t>
              </a:r>
              <a:endParaRPr lang="en-US" sz="2100" b="1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" name="TextBox 18"/>
            <p:cNvSpPr/>
            <p:nvPr/>
          </p:nvSpPr>
          <p:spPr>
            <a:xfrm>
              <a:off x="1134618" y="2901982"/>
              <a:ext cx="27489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查询密文 / 状态 / 不确定性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467600" y="2324100"/>
              <a:ext cx="3790950" cy="1009650"/>
            </a:xfrm>
            <a:prstGeom prst="rect">
              <a:avLst/>
            </a:prstGeom>
            <a:noFill/>
            <a:ln w="14288">
              <a:solidFill>
                <a:srgbClr val="786873"/>
              </a:solidFill>
            </a:ln>
          </p:spPr>
        </p:sp>
        <p:sp>
          <p:nvSpPr>
            <p:cNvPr id="20" name="TextBox 20"/>
            <p:cNvSpPr/>
            <p:nvPr/>
          </p:nvSpPr>
          <p:spPr>
            <a:xfrm>
              <a:off x="7666482" y="2432018"/>
              <a:ext cx="7568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en-US" sz="2100" b="1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Claim</a:t>
              </a:r>
              <a:endParaRPr lang="en-US" sz="2100" b="1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1" name="TextBox 21"/>
            <p:cNvSpPr/>
            <p:nvPr/>
          </p:nvSpPr>
          <p:spPr>
            <a:xfrm>
              <a:off x="7668768" y="2901982"/>
              <a:ext cx="29377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主张密文 / 支持、冲突、未知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33450" y="4210050"/>
              <a:ext cx="3790950" cy="1066800"/>
            </a:xfrm>
            <a:prstGeom prst="rect">
              <a:avLst/>
            </a:prstGeom>
            <a:noFill/>
            <a:ln w="14288">
              <a:solidFill>
                <a:srgbClr val="786873"/>
              </a:solidFill>
            </a:ln>
          </p:spPr>
        </p:sp>
        <p:sp>
          <p:nvSpPr>
            <p:cNvPr id="23" name="TextBox 23"/>
            <p:cNvSpPr/>
            <p:nvPr/>
          </p:nvSpPr>
          <p:spPr>
            <a:xfrm>
              <a:off x="1132332" y="4337018"/>
              <a:ext cx="101012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en-US" sz="2100" b="1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Source</a:t>
              </a:r>
              <a:endParaRPr lang="en-US" sz="2100" b="1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" name="TextBox 24"/>
            <p:cNvSpPr/>
            <p:nvPr/>
          </p:nvSpPr>
          <p:spPr>
            <a:xfrm>
              <a:off x="1134618" y="4806982"/>
              <a:ext cx="27063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唯一URL / 质量 / 抓取时间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467600" y="4210050"/>
              <a:ext cx="3790950" cy="1066800"/>
            </a:xfrm>
            <a:prstGeom prst="rect">
              <a:avLst/>
            </a:prstGeom>
            <a:noFill/>
            <a:ln w="14288">
              <a:solidFill>
                <a:srgbClr val="786873"/>
              </a:solidFill>
            </a:ln>
          </p:spPr>
        </p:sp>
        <p:sp>
          <p:nvSpPr>
            <p:cNvPr id="26" name="TextBox 26"/>
            <p:cNvSpPr/>
            <p:nvPr/>
          </p:nvSpPr>
          <p:spPr>
            <a:xfrm>
              <a:off x="7666482" y="4337018"/>
              <a:ext cx="184908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en-US" sz="2100" b="1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EvidenceLink</a:t>
              </a:r>
              <a:endParaRPr lang="en-US" sz="2100" b="1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7" name="TextBox 27"/>
            <p:cNvSpPr/>
            <p:nvPr/>
          </p:nvSpPr>
          <p:spPr>
            <a:xfrm>
              <a:off x="7668768" y="4806982"/>
              <a:ext cx="30959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复合PK：claim_id + source_id</a:t>
              </a:r>
              <a:endParaRPr lang="zh-CN" sz="16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0" name="save-rule"/>
          <p:cNvGrpSpPr/>
          <p:nvPr/>
        </p:nvGrpSpPr>
        <p:grpSpPr>
          <a:xfrm>
            <a:off x="903732" y="5651468"/>
            <a:ext cx="8785098" cy="410718"/>
            <a:chOff x="903732" y="5651468"/>
            <a:chExt cx="8785098" cy="410718"/>
          </a:xfrm>
        </p:grpSpPr>
        <p:sp>
          <p:nvSpPr>
            <p:cNvPr id="29" name="TextBox 29"/>
            <p:cNvSpPr/>
            <p:nvPr/>
          </p:nvSpPr>
          <p:spPr>
            <a:xfrm>
              <a:off x="903732" y="5651468"/>
              <a:ext cx="878509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仅成功且有可核来源的查询可主动保存；证据从服务端有效结果复制。</a:t>
              </a:r>
              <a:endParaRPr lang="zh-CN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32" name="TextBox 32"/>
          <p:cNvSpPr/>
          <p:nvPr/>
        </p:nvSpPr>
        <p:spPr>
          <a:xfrm>
            <a:off x="10511980" y="6362700"/>
            <a:ext cx="77171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786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 / 24</a:t>
            </a:r>
            <a:endParaRPr lang="zh-CN" sz="1200" dirty="0">
              <a:solidFill>
                <a:srgbClr val="7868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Line 53"/>
          <p:cNvSpPr/>
          <p:nvPr/>
        </p:nvSpPr>
        <p:spPr>
          <a:xfrm>
            <a:off x="904875" y="6229350"/>
            <a:ext cx="10382250" cy="9525"/>
          </a:xfrm>
          <a:custGeom>
            <a:avLst/>
            <a:gdLst/>
            <a:ahLst/>
            <a:cxnLst/>
            <a:rect l="l" t="t" r="r" b="b"/>
            <a:pathLst>
              <a:path w="10382250" h="9525">
                <a:moveTo>
                  <a:pt x="0" y="0"/>
                </a:moveTo>
                <a:lnTo>
                  <a:pt x="10382250" y="0"/>
                </a:lnTo>
              </a:path>
            </a:pathLst>
          </a:custGeom>
          <a:noFill/>
          <a:ln w="9525">
            <a:solidFill>
              <a:srgbClr val="E9DCE3"/>
            </a:solidFill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914400" y="12573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38100">
            <a:solidFill>
              <a:srgbClr val="BE6485"/>
            </a:solidFill>
          </a:ln>
        </p:spPr>
      </p:sp>
      <p:grpSp>
        <p:nvGrpSpPr>
          <p:cNvPr id="4" name="title"/>
          <p:cNvGrpSpPr/>
          <p:nvPr/>
        </p:nvGrpSpPr>
        <p:grpSpPr>
          <a:xfrm>
            <a:off x="897636" y="431768"/>
            <a:ext cx="10477500" cy="645414"/>
            <a:chOff x="897636" y="431768"/>
            <a:chExt cx="10477500" cy="645414"/>
          </a:xfrm>
        </p:grpSpPr>
        <p:sp>
          <p:nvSpPr>
            <p:cNvPr id="3" name="TextBox 3"/>
            <p:cNvSpPr/>
            <p:nvPr/>
          </p:nvSpPr>
          <p:spPr>
            <a:xfrm>
              <a:off x="897636" y="431768"/>
              <a:ext cx="104775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rgbClr val="71364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表结构：约束、加密与恢复</a:t>
              </a:r>
              <a:endParaRPr lang="zh-CN" sz="3300" b="1" dirty="0">
                <a:solidFill>
                  <a:srgbClr val="7136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0" name="schema"/>
          <p:cNvGrpSpPr/>
          <p:nvPr/>
        </p:nvGrpSpPr>
        <p:grpSpPr>
          <a:xfrm>
            <a:off x="902208" y="2336768"/>
            <a:ext cx="3423285" cy="2607850"/>
            <a:chOff x="902208" y="2336768"/>
            <a:chExt cx="3423285" cy="2607850"/>
          </a:xfrm>
        </p:grpSpPr>
        <p:sp>
          <p:nvSpPr>
            <p:cNvPr id="7" name="TextBox 7"/>
            <p:cNvSpPr/>
            <p:nvPr/>
          </p:nvSpPr>
          <p:spPr>
            <a:xfrm>
              <a:off x="902208" y="2336768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71364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结构与一致性</a:t>
              </a:r>
              <a:endParaRPr lang="zh-CN" sz="2400" b="1" dirty="0">
                <a:solidFill>
                  <a:srgbClr val="7136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" name="TextBox 8"/>
            <p:cNvSpPr/>
            <p:nvPr/>
          </p:nvSpPr>
          <p:spPr>
            <a:xfrm>
              <a:off x="903732" y="2895600"/>
              <a:ext cx="316839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uuid主键 / bytea密文</a:t>
              </a:r>
              <a:br>
                <a:rPr lang="zh-CN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UTC时间点 + 本地日历日期</a:t>
              </a:r>
              <a:endParaRPr lang="zh-CN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" name="TextBox 9"/>
            <p:cNvSpPr/>
            <p:nvPr/>
          </p:nvSpPr>
          <p:spPr>
            <a:xfrm>
              <a:off x="903732" y="4076700"/>
              <a:ext cx="3421761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作用域唯一约束 / 复合外键</a:t>
              </a:r>
              <a:br>
                <a:rPr lang="zh-CN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version乐观锁 / 按访问索引</a:t>
              </a:r>
              <a:endParaRPr lang="zh-CN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1" name="Line 11"/>
          <p:cNvSpPr/>
          <p:nvPr/>
        </p:nvSpPr>
        <p:spPr>
          <a:xfrm>
            <a:off x="6096000" y="2305050"/>
            <a:ext cx="9525" cy="2933700"/>
          </a:xfrm>
          <a:custGeom>
            <a:avLst/>
            <a:gdLst/>
            <a:ahLst/>
            <a:cxnLst/>
            <a:rect l="l" t="t" r="r" b="b"/>
            <a:pathLst>
              <a:path w="9525" h="2933700">
                <a:moveTo>
                  <a:pt x="0" y="0"/>
                </a:moveTo>
                <a:lnTo>
                  <a:pt x="0" y="2933700"/>
                </a:lnTo>
              </a:path>
            </a:pathLst>
          </a:custGeom>
          <a:noFill/>
          <a:ln w="9525">
            <a:solidFill>
              <a:srgbClr val="E9DCE3"/>
            </a:solidFill>
          </a:ln>
        </p:spPr>
      </p:sp>
      <p:grpSp>
        <p:nvGrpSpPr>
          <p:cNvPr id="15" name="secrets"/>
          <p:cNvGrpSpPr/>
          <p:nvPr/>
        </p:nvGrpSpPr>
        <p:grpSpPr>
          <a:xfrm>
            <a:off x="6541008" y="2336768"/>
            <a:ext cx="3183255" cy="2607850"/>
            <a:chOff x="6541008" y="2336768"/>
            <a:chExt cx="3183255" cy="2607850"/>
          </a:xfrm>
        </p:grpSpPr>
        <p:sp>
          <p:nvSpPr>
            <p:cNvPr id="12" name="TextBox 12"/>
            <p:cNvSpPr/>
            <p:nvPr/>
          </p:nvSpPr>
          <p:spPr>
            <a:xfrm>
              <a:off x="6541008" y="2336768"/>
              <a:ext cx="29321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71364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敏感数据与生命周期</a:t>
              </a:r>
              <a:endParaRPr lang="zh-CN" sz="2400" b="1" dirty="0">
                <a:solidFill>
                  <a:srgbClr val="7136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" name="TextBox 13"/>
            <p:cNvSpPr/>
            <p:nvPr/>
          </p:nvSpPr>
          <p:spPr>
            <a:xfrm>
              <a:off x="6542532" y="2895600"/>
              <a:ext cx="3181731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密码Argon2id摘要</a:t>
              </a:r>
              <a:br>
                <a:rPr lang="zh-CN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会话凭据仅存SHA-256摘要</a:t>
              </a:r>
              <a:endParaRPr lang="zh-CN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" name="TextBox 14"/>
            <p:cNvSpPr/>
            <p:nvPr/>
          </p:nvSpPr>
          <p:spPr>
            <a:xfrm>
              <a:off x="6542532" y="4076700"/>
              <a:ext cx="2568321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加密备份保留7天</a:t>
              </a:r>
              <a:br>
                <a:rPr lang="zh-CN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21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独立删除日志至少8天</a:t>
              </a:r>
              <a:endParaRPr lang="zh-CN" sz="21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9" name="TextBox 19"/>
          <p:cNvSpPr/>
          <p:nvPr/>
        </p:nvSpPr>
        <p:spPr>
          <a:xfrm>
            <a:off x="10730294" y="6362700"/>
            <a:ext cx="5534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786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 / 24</a:t>
            </a:r>
            <a:endParaRPr lang="zh-CN" sz="1200" dirty="0">
              <a:solidFill>
                <a:srgbClr val="7868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Line 32"/>
          <p:cNvSpPr/>
          <p:nvPr/>
        </p:nvSpPr>
        <p:spPr>
          <a:xfrm>
            <a:off x="904875" y="6229350"/>
            <a:ext cx="10382250" cy="9525"/>
          </a:xfrm>
          <a:custGeom>
            <a:avLst/>
            <a:gdLst/>
            <a:ahLst/>
            <a:cxnLst/>
            <a:rect l="l" t="t" r="r" b="b"/>
            <a:pathLst>
              <a:path w="10382250" h="9525">
                <a:moveTo>
                  <a:pt x="0" y="0"/>
                </a:moveTo>
                <a:lnTo>
                  <a:pt x="10382250" y="0"/>
                </a:lnTo>
              </a:path>
            </a:pathLst>
          </a:custGeom>
          <a:noFill/>
          <a:ln w="9525">
            <a:solidFill>
              <a:srgbClr val="E9DCE3"/>
            </a:solidFill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review-accent"/>
          <p:cNvGrpSpPr/>
          <p:nvPr/>
        </p:nvGrpSpPr>
        <p:grpSpPr>
          <a:xfrm>
            <a:off x="762000" y="400050"/>
            <a:ext cx="47625" cy="457200"/>
            <a:chOff x="762000" y="400050"/>
            <a:chExt cx="47625" cy="457200"/>
          </a:xfrm>
        </p:grpSpPr>
        <p:sp>
          <p:nvSpPr>
            <p:cNvPr id="2" name="review-visual-2"/>
            <p:cNvSpPr/>
            <p:nvPr/>
          </p:nvSpPr>
          <p:spPr>
            <a:xfrm>
              <a:off x="762000" y="400050"/>
              <a:ext cx="47625" cy="457200"/>
            </a:xfrm>
            <a:prstGeom prst="rect">
              <a:avLst/>
            </a:prstGeom>
            <a:solidFill>
              <a:srgbClr val="BE6485"/>
            </a:solidFill>
            <a:ln>
              <a:noFill/>
            </a:ln>
          </p:spPr>
        </p:sp>
      </p:grpSp>
      <p:grpSp>
        <p:nvGrpSpPr>
          <p:cNvPr id="5" name="review-title"/>
          <p:cNvGrpSpPr/>
          <p:nvPr/>
        </p:nvGrpSpPr>
        <p:grpSpPr>
          <a:xfrm>
            <a:off x="956691" y="444500"/>
            <a:ext cx="5475337" cy="572072"/>
            <a:chOff x="956691" y="444500"/>
            <a:chExt cx="5475337" cy="572072"/>
          </a:xfrm>
        </p:grpSpPr>
        <p:sp>
          <p:nvSpPr>
            <p:cNvPr id="4" name="review-visual-3"/>
            <p:cNvSpPr txBox="1"/>
            <p:nvPr/>
          </p:nvSpPr>
          <p:spPr>
            <a:xfrm>
              <a:off x="956691" y="444500"/>
              <a:ext cx="5475337" cy="572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920" b="1" dirty="0">
                  <a:solidFill>
                    <a:srgbClr val="71364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问题回应①｜你们如何训练 AI？</a:t>
              </a:r>
              <a:endParaRPr lang="zh-CN" sz="2920" b="1" dirty="0">
                <a:solidFill>
                  <a:srgbClr val="7136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9" name="api-position"/>
          <p:cNvGrpSpPr/>
          <p:nvPr/>
        </p:nvGrpSpPr>
        <p:grpSpPr>
          <a:xfrm>
            <a:off x="762000" y="1352550"/>
            <a:ext cx="10668000" cy="689356"/>
            <a:chOff x="762000" y="1352550"/>
            <a:chExt cx="10668000" cy="1085850"/>
          </a:xfrm>
        </p:grpSpPr>
        <p:sp>
          <p:nvSpPr>
            <p:cNvPr id="6" name="review-visual-4"/>
            <p:cNvSpPr/>
            <p:nvPr/>
          </p:nvSpPr>
          <p:spPr>
            <a:xfrm>
              <a:off x="762000" y="1352550"/>
              <a:ext cx="10668000" cy="1085850"/>
            </a:xfrm>
            <a:prstGeom prst="rect">
              <a:avLst/>
            </a:prstGeom>
            <a:solidFill>
              <a:srgbClr val="F8EDF2"/>
            </a:solidFill>
            <a:ln>
              <a:noFill/>
            </a:ln>
          </p:spPr>
        </p:sp>
        <p:sp>
          <p:nvSpPr>
            <p:cNvPr id="7" name="review-visual-5"/>
            <p:cNvSpPr txBox="1"/>
            <p:nvPr/>
          </p:nvSpPr>
          <p:spPr>
            <a:xfrm>
              <a:off x="978408" y="1604908"/>
              <a:ext cx="9156700" cy="5811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71364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首版调用成熟模型 API，</a:t>
              </a:r>
              <a:r>
                <a:rPr lang="zh-CN" altLang="en-US" sz="2400" b="1" dirty="0">
                  <a:solidFill>
                    <a:srgbClr val="71364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团队开发任务编排、工具调用和记忆管理</a:t>
              </a:r>
              <a:r>
                <a:rPr lang="zh-CN" sz="2400" b="1" dirty="0">
                  <a:solidFill>
                    <a:srgbClr val="71364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。</a:t>
              </a:r>
              <a:endParaRPr lang="zh-CN" sz="2400" b="1" dirty="0">
                <a:solidFill>
                  <a:srgbClr val="7136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2" name="api-work-80"/>
          <p:cNvGrpSpPr/>
          <p:nvPr>
            <p:custDataLst>
              <p:tags r:id="rId1"/>
            </p:custDataLst>
          </p:nvPr>
        </p:nvGrpSpPr>
        <p:grpSpPr>
          <a:xfrm>
            <a:off x="750951" y="2701925"/>
            <a:ext cx="3202305" cy="1318895"/>
            <a:chOff x="750951" y="2905125"/>
            <a:chExt cx="3202305" cy="1318895"/>
          </a:xfrm>
        </p:grpSpPr>
        <p:sp>
          <p:nvSpPr>
            <p:cNvPr id="10" name="review-visual-7"/>
            <p:cNvSpPr txBox="1"/>
            <p:nvPr>
              <p:custDataLst>
                <p:tags r:id="rId2"/>
              </p:custDataLst>
            </p:nvPr>
          </p:nvSpPr>
          <p:spPr>
            <a:xfrm>
              <a:off x="750951" y="2905125"/>
              <a:ext cx="27686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altLang="en-US" sz="2180" b="1" dirty="0">
                  <a:solidFill>
                    <a:srgbClr val="71364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理解需求，确定下一步</a:t>
              </a:r>
              <a:endParaRPr lang="zh-CN" altLang="en-US" sz="2180" b="1" dirty="0">
                <a:solidFill>
                  <a:srgbClr val="7136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" name="review-visual-8"/>
            <p:cNvSpPr txBox="1"/>
            <p:nvPr>
              <p:custDataLst>
                <p:tags r:id="rId3"/>
              </p:custDataLst>
            </p:nvPr>
          </p:nvSpPr>
          <p:spPr>
            <a:xfrm>
              <a:off x="752856" y="3378200"/>
              <a:ext cx="320040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altLang="en-US" sz="18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模型识别出用户想“拆分任务”</a:t>
              </a:r>
              <a:br>
                <a:rPr lang="zh-CN" altLang="en-US" sz="18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altLang="en-US" sz="18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生成简短回应和练习建议</a:t>
              </a:r>
              <a:endParaRPr lang="zh-CN" altLang="en-US" sz="18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5" name="api-work-472"/>
          <p:cNvGrpSpPr/>
          <p:nvPr>
            <p:custDataLst>
              <p:tags r:id="rId4"/>
            </p:custDataLst>
          </p:nvPr>
        </p:nvGrpSpPr>
        <p:grpSpPr>
          <a:xfrm>
            <a:off x="4484751" y="2701925"/>
            <a:ext cx="2763393" cy="2165350"/>
            <a:chOff x="4484751" y="2905125"/>
            <a:chExt cx="2763393" cy="2165350"/>
          </a:xfrm>
        </p:grpSpPr>
        <p:sp>
          <p:nvSpPr>
            <p:cNvPr id="13" name="review-visual-9"/>
            <p:cNvSpPr txBox="1"/>
            <p:nvPr>
              <p:custDataLst>
                <p:tags r:id="rId5"/>
              </p:custDataLst>
            </p:nvPr>
          </p:nvSpPr>
          <p:spPr>
            <a:xfrm>
              <a:off x="4484751" y="2905125"/>
              <a:ext cx="249174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altLang="en-US" sz="2180" b="1" dirty="0">
                  <a:solidFill>
                    <a:srgbClr val="71364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程序推进，工具执行</a:t>
              </a:r>
              <a:endParaRPr lang="zh-CN" altLang="en-US" sz="2180" b="1" dirty="0">
                <a:solidFill>
                  <a:srgbClr val="7136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" name="review-visual-10"/>
            <p:cNvSpPr txBox="1"/>
            <p:nvPr>
              <p:custDataLst>
                <p:tags r:id="rId6"/>
              </p:custDataLst>
            </p:nvPr>
          </p:nvSpPr>
          <p:spPr>
            <a:xfrm>
              <a:off x="4486656" y="3378200"/>
              <a:ext cx="2761488" cy="16922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altLang="en-US" sz="18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用户确认后，程序从练习库加载“列任务→选重点→拆第一步”的固定流程。</a:t>
              </a:r>
              <a:br>
                <a:rPr lang="zh-CN" altLang="en-US" sz="18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altLang="en-US" sz="18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一次展示一步</a:t>
              </a:r>
              <a:endParaRPr lang="zh-CN" altLang="en-US" sz="18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8" name="api-work-864"/>
          <p:cNvGrpSpPr/>
          <p:nvPr>
            <p:custDataLst>
              <p:tags r:id="rId7"/>
            </p:custDataLst>
          </p:nvPr>
        </p:nvGrpSpPr>
        <p:grpSpPr>
          <a:xfrm>
            <a:off x="8218551" y="2651125"/>
            <a:ext cx="3045460" cy="2588895"/>
            <a:chOff x="8218551" y="2905125"/>
            <a:chExt cx="3045460" cy="2588895"/>
          </a:xfrm>
        </p:grpSpPr>
        <p:sp>
          <p:nvSpPr>
            <p:cNvPr id="16" name="review-visual-11"/>
            <p:cNvSpPr txBox="1"/>
            <p:nvPr>
              <p:custDataLst>
                <p:tags r:id="rId8"/>
              </p:custDataLst>
            </p:nvPr>
          </p:nvSpPr>
          <p:spPr>
            <a:xfrm>
              <a:off x="8218551" y="2905125"/>
              <a:ext cx="304546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altLang="en-US" sz="2180" b="1" dirty="0">
                  <a:solidFill>
                    <a:srgbClr val="71364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保存信息，下次按需读取</a:t>
              </a:r>
              <a:endParaRPr lang="zh-CN" altLang="en-US" sz="2180" b="1" dirty="0">
                <a:solidFill>
                  <a:srgbClr val="7136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" name="review-visual-12"/>
            <p:cNvSpPr txBox="1"/>
            <p:nvPr>
              <p:custDataLst>
                <p:tags r:id="rId9"/>
              </p:custDataLst>
            </p:nvPr>
          </p:nvSpPr>
          <p:spPr>
            <a:xfrm>
              <a:off x="8220456" y="3378200"/>
              <a:ext cx="2761488" cy="21158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altLang="en-US" sz="18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当前任务、已填写内容和暂停位置，作为任务状态保存。</a:t>
              </a:r>
              <a:br>
                <a:rPr lang="zh-CN" altLang="en-US" sz="18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altLang="en-US" sz="180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“喜欢简短回复”只有经用户确认才保存为长期偏好，下次相关对话再读取。</a:t>
              </a:r>
              <a:endParaRPr lang="zh-CN" altLang="en-US" sz="18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9" name="review-visual-13"/>
          <p:cNvSpPr txBox="1"/>
          <p:nvPr/>
        </p:nvSpPr>
        <p:spPr>
          <a:xfrm>
            <a:off x="753110" y="5126355"/>
            <a:ext cx="9601200" cy="11658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2180" b="1" dirty="0">
                <a:solidFill>
                  <a:srgbClr val="7136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怎么迭代？</a:t>
            </a:r>
            <a:endParaRPr lang="zh-CN" altLang="en-US" sz="2180" b="1" dirty="0">
              <a:solidFill>
                <a:srgbClr val="7136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18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测试输入“我只想聊聊，暂时不做练习”。如果系统仍启动练习，就检查意图识别和确认流程；</a:t>
            </a:r>
            <a:br>
              <a:rPr lang="zh-CN" altLang="en-US" sz="18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18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修正后，用这条输入及相近说法重新测试。</a:t>
            </a:r>
            <a:endParaRPr lang="zh-CN" altLang="en-US" sz="1800" dirty="0">
              <a:solidFill>
                <a:srgbClr val="352C3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18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这些调整改变提示、程序和请求上下文，不修改模型权重。</a:t>
            </a:r>
            <a:r>
              <a:rPr lang="zh-CN" sz="180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sz="1800" dirty="0">
              <a:solidFill>
                <a:srgbClr val="352C3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4" name="review-footer"/>
          <p:cNvGrpSpPr/>
          <p:nvPr/>
        </p:nvGrpSpPr>
        <p:grpSpPr>
          <a:xfrm>
            <a:off x="762000" y="6343650"/>
            <a:ext cx="10674096" cy="339471"/>
            <a:chOff x="762000" y="6343650"/>
            <a:chExt cx="10674096" cy="339471"/>
          </a:xfrm>
        </p:grpSpPr>
        <p:sp>
          <p:nvSpPr>
            <p:cNvPr id="22" name="Line 22"/>
            <p:cNvSpPr/>
            <p:nvPr/>
          </p:nvSpPr>
          <p:spPr>
            <a:xfrm>
              <a:off x="762000" y="63436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9DCE3"/>
              </a:solidFill>
            </a:ln>
          </p:spPr>
        </p:sp>
        <p:sp>
          <p:nvSpPr>
            <p:cNvPr id="23" name="review-visual-16"/>
            <p:cNvSpPr txBox="1"/>
            <p:nvPr/>
          </p:nvSpPr>
          <p:spPr>
            <a:xfrm>
              <a:off x="10882732" y="64484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8687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16 / 24</a:t>
              </a:r>
              <a:endParaRPr lang="zh-CN" sz="1200" dirty="0">
                <a:solidFill>
                  <a:srgbClr val="786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782955" y="2197100"/>
            <a:ext cx="92475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dirty="0">
                <a:solidFill>
                  <a:srgbClr val="786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比如：用户</a:t>
            </a:r>
            <a:r>
              <a:rPr lang="zh-CN" dirty="0">
                <a:solidFill>
                  <a:srgbClr val="786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说“今晚事情太多了，帮我一件件理清楚，别一次说太多。”</a:t>
            </a:r>
            <a:endParaRPr lang="zh-CN" dirty="0">
              <a:solidFill>
                <a:srgbClr val="7868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59765" y="4158615"/>
            <a:ext cx="32029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用户未确认时，保持陪伴交流</a:t>
            </a:r>
            <a:br>
              <a:rPr lang="zh-CN" altLang="en-US"/>
            </a:br>
            <a:r>
              <a:rPr lang="zh-CN" altLang="en-US"/>
              <a:t>不直接开始练习。</a:t>
            </a:r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review-accent"/>
          <p:cNvGrpSpPr/>
          <p:nvPr/>
        </p:nvGrpSpPr>
        <p:grpSpPr>
          <a:xfrm>
            <a:off x="762000" y="400050"/>
            <a:ext cx="47625" cy="457200"/>
            <a:chOff x="762000" y="400050"/>
            <a:chExt cx="47625" cy="457200"/>
          </a:xfrm>
        </p:grpSpPr>
        <p:sp>
          <p:nvSpPr>
            <p:cNvPr id="2" name="review-visual-18"/>
            <p:cNvSpPr/>
            <p:nvPr/>
          </p:nvSpPr>
          <p:spPr>
            <a:xfrm>
              <a:off x="762000" y="400050"/>
              <a:ext cx="47625" cy="457200"/>
            </a:xfrm>
            <a:prstGeom prst="rect">
              <a:avLst/>
            </a:prstGeom>
            <a:solidFill>
              <a:srgbClr val="BE6485"/>
            </a:solidFill>
            <a:ln>
              <a:noFill/>
            </a:ln>
          </p:spPr>
        </p:sp>
      </p:grpSp>
      <p:grpSp>
        <p:nvGrpSpPr>
          <p:cNvPr id="5" name="review-title"/>
          <p:cNvGrpSpPr/>
          <p:nvPr/>
        </p:nvGrpSpPr>
        <p:grpSpPr>
          <a:xfrm>
            <a:off x="956691" y="444500"/>
            <a:ext cx="7178530" cy="572072"/>
            <a:chOff x="956691" y="444500"/>
            <a:chExt cx="7178530" cy="572072"/>
          </a:xfrm>
        </p:grpSpPr>
        <p:sp>
          <p:nvSpPr>
            <p:cNvPr id="4" name="review-visual-19"/>
            <p:cNvSpPr txBox="1"/>
            <p:nvPr/>
          </p:nvSpPr>
          <p:spPr>
            <a:xfrm>
              <a:off x="956691" y="444500"/>
              <a:ext cx="7178530" cy="572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920" b="1" dirty="0">
                  <a:solidFill>
                    <a:srgbClr val="71364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问题回应②｜与豆包等通用 AI 有何区别？</a:t>
              </a:r>
              <a:endParaRPr lang="zh-CN" sz="2920" b="1" dirty="0">
                <a:solidFill>
                  <a:srgbClr val="7136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9" name="difference-position"/>
          <p:cNvGrpSpPr/>
          <p:nvPr/>
        </p:nvGrpSpPr>
        <p:grpSpPr>
          <a:xfrm>
            <a:off x="762000" y="1077151"/>
            <a:ext cx="10668000" cy="603949"/>
            <a:chOff x="762000" y="857405"/>
            <a:chExt cx="10668000" cy="1085850"/>
          </a:xfrm>
        </p:grpSpPr>
        <p:sp>
          <p:nvSpPr>
            <p:cNvPr id="6" name="review-visual-20"/>
            <p:cNvSpPr/>
            <p:nvPr/>
          </p:nvSpPr>
          <p:spPr>
            <a:xfrm>
              <a:off x="762000" y="857405"/>
              <a:ext cx="10668000" cy="1085850"/>
            </a:xfrm>
            <a:prstGeom prst="rect">
              <a:avLst/>
            </a:prstGeom>
            <a:solidFill>
              <a:srgbClr val="F8EDF2"/>
            </a:solidFill>
            <a:ln>
              <a:noFill/>
            </a:ln>
          </p:spPr>
        </p:sp>
        <p:sp>
          <p:nvSpPr>
            <p:cNvPr id="7" name="review-visual-21"/>
            <p:cNvSpPr txBox="1"/>
            <p:nvPr/>
          </p:nvSpPr>
          <p:spPr>
            <a:xfrm>
              <a:off x="978789" y="1080090"/>
              <a:ext cx="8839200" cy="6404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0" b="1" dirty="0">
                  <a:solidFill>
                    <a:srgbClr val="71364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例如，用户</a:t>
              </a:r>
              <a:r>
                <a:rPr lang="zh-CN" sz="2320" b="1" dirty="0">
                  <a:solidFill>
                    <a:srgbClr val="71364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说：</a:t>
              </a:r>
              <a:r>
                <a:rPr lang="zh-CN" altLang="en-US" sz="2320" b="1" dirty="0">
                  <a:solidFill>
                    <a:srgbClr val="71364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“我想跟室友说晚上别那么吵，但又怕吵起来。”</a:t>
              </a:r>
              <a:r>
                <a:rPr lang="zh-CN" sz="2320" b="1" dirty="0">
                  <a:solidFill>
                    <a:srgbClr val="71364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。</a:t>
              </a:r>
              <a:endParaRPr lang="zh-CN" sz="2320" b="1" dirty="0">
                <a:solidFill>
                  <a:srgbClr val="7136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0" name="review-footer"/>
          <p:cNvGrpSpPr/>
          <p:nvPr/>
        </p:nvGrpSpPr>
        <p:grpSpPr>
          <a:xfrm>
            <a:off x="762000" y="6343650"/>
            <a:ext cx="10674096" cy="339471"/>
            <a:chOff x="762000" y="6343650"/>
            <a:chExt cx="10674096" cy="339471"/>
          </a:xfrm>
        </p:grpSpPr>
        <p:sp>
          <p:nvSpPr>
            <p:cNvPr id="18" name="Line 18"/>
            <p:cNvSpPr/>
            <p:nvPr/>
          </p:nvSpPr>
          <p:spPr>
            <a:xfrm>
              <a:off x="762000" y="63436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9DCE3"/>
              </a:solidFill>
            </a:ln>
          </p:spPr>
        </p:sp>
        <p:sp>
          <p:nvSpPr>
            <p:cNvPr id="19" name="review-visual-29"/>
            <p:cNvSpPr txBox="1"/>
            <p:nvPr/>
          </p:nvSpPr>
          <p:spPr>
            <a:xfrm>
              <a:off x="10882732" y="64484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8687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17 / 24</a:t>
              </a:r>
              <a:endParaRPr lang="zh-CN" sz="1200" dirty="0">
                <a:solidFill>
                  <a:srgbClr val="786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aphicFrame>
        <p:nvGraphicFramePr>
          <p:cNvPr id="16" name="review-improvements-table"/>
          <p:cNvGraphicFramePr>
            <a:graphicFrameLocks noGrp="1"/>
          </p:cNvGraphicFramePr>
          <p:nvPr/>
        </p:nvGraphicFramePr>
        <p:xfrm>
          <a:off x="762000" y="1900555"/>
          <a:ext cx="10282555" cy="424497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35455"/>
                <a:gridCol w="5079365"/>
                <a:gridCol w="3467735"/>
              </a:tblGrid>
              <a:tr h="377190">
                <a:tc>
                  <a:txBody>
                    <a:bodyPr/>
                    <a:lstStyle/>
                    <a:p>
                      <a:r>
                        <a:rPr lang="zh-CN"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环节</a:t>
                      </a:r>
                      <a:endParaRPr lang="zh-CN"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62865" marB="62865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71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我们具体做什么</a:t>
                      </a:r>
                      <a:endParaRPr lang="zh-CN" altLang="en-US"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62865" marB="62865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71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对用户有什么用</a:t>
                      </a:r>
                      <a:endParaRPr lang="zh-CN" altLang="en-US"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62865" marB="62865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71364F"/>
                    </a:solidFill>
                  </a:tcPr>
                </a:tc>
              </a:tr>
              <a:tr h="773430">
                <a:tc>
                  <a:txBody>
                    <a:bodyPr/>
                    <a:lstStyle/>
                    <a:p>
                      <a:r>
                        <a:rPr lang="zh-CN" altLang="en-US" sz="1650" b="1">
                          <a:solidFill>
                            <a:srgbClr val="7136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确定练习目标</a:t>
                      </a:r>
                      <a:endParaRPr lang="zh-CN" altLang="en-US" sz="1650" b="1">
                        <a:solidFill>
                          <a:srgbClr val="7136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76200" marB="762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8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5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让用户选择“提出请求”“拒绝要求”“表达不满”，本次选择“提出请求”；确认希望达成“晚上十一点后降低音量”</a:t>
                      </a:r>
                      <a:endParaRPr lang="zh-CN" altLang="en-US" sz="165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76200" marB="762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5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不需要用户自己写一大段角色扮演提示词</a:t>
                      </a:r>
                      <a:endParaRPr lang="zh-CN" altLang="en-US" sz="165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76200" marB="762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4065">
                <a:tc>
                  <a:txBody>
                    <a:bodyPr/>
                    <a:lstStyle/>
                    <a:p>
                      <a:r>
                        <a:rPr lang="zh-CN" altLang="en-US" sz="1650" b="1">
                          <a:solidFill>
                            <a:srgbClr val="7136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模拟不同反应</a:t>
                      </a:r>
                      <a:endParaRPr lang="zh-CN" altLang="en-US" sz="1650" b="1">
                        <a:solidFill>
                          <a:srgbClr val="7136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76200" marB="762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8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5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提供“愿意商量”“敷衍回应”“反过来指责”等分支，模型根据用户刚说的话继续扮演</a:t>
                      </a:r>
                      <a:endParaRPr lang="zh-CN" altLang="en-US" sz="165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76200" marB="762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D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5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用户可以提前练习对方不配合时怎么回应</a:t>
                      </a:r>
                      <a:endParaRPr lang="zh-CN" altLang="en-US" sz="165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76200" marB="762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DF6F9"/>
                    </a:solidFill>
                  </a:tcPr>
                </a:tc>
              </a:tr>
              <a:tr h="773430">
                <a:tc>
                  <a:txBody>
                    <a:bodyPr/>
                    <a:lstStyle/>
                    <a:p>
                      <a:r>
                        <a:rPr lang="zh-CN" altLang="en-US" sz="1650" b="1">
                          <a:solidFill>
                            <a:srgbClr val="7136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针对具体表达反馈</a:t>
                      </a:r>
                      <a:endParaRPr lang="zh-CN" altLang="en-US" sz="1650" b="1">
                        <a:solidFill>
                          <a:srgbClr val="7136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76200" marB="762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8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5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用户说“你每天都吵死了”，系统指出“这句用了笼统指责，还没有说清具体请求”，让用户试着重说</a:t>
                      </a:r>
                      <a:endParaRPr lang="zh-CN" altLang="en-US" sz="165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76200" marB="762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5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反馈落在用户刚说的这句话上，而非泛泛讲沟通原则</a:t>
                      </a:r>
                      <a:endParaRPr lang="zh-CN" altLang="en-US" sz="165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76200" marB="762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3430">
                <a:tc>
                  <a:txBody>
                    <a:bodyPr/>
                    <a:lstStyle/>
                    <a:p>
                      <a:r>
                        <a:rPr lang="zh-CN" altLang="en-US" sz="1650" b="1">
                          <a:solidFill>
                            <a:srgbClr val="7136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留下可用结果</a:t>
                      </a:r>
                      <a:endParaRPr lang="zh-CN" altLang="en-US" sz="1650" b="1">
                        <a:solidFill>
                          <a:srgbClr val="7136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76200" marB="762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8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5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结束后整理成沟通卡片：我的目标、准备说的开场、对方拒绝时的备选回应</a:t>
                      </a:r>
                      <a:endParaRPr lang="zh-CN" altLang="en-US" sz="165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76200" marB="762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D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5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练完能带走一份实际可以用的准备材料</a:t>
                      </a:r>
                      <a:endParaRPr lang="zh-CN" altLang="en-US" sz="165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76200" marB="762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DF6F9"/>
                    </a:solidFill>
                  </a:tcPr>
                </a:tc>
              </a:tr>
              <a:tr h="77343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50" b="1">
                          <a:solidFill>
                            <a:srgbClr val="7136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后续调整：可选扩展</a:t>
                      </a:r>
                      <a:endParaRPr lang="zh-CN" altLang="en-US" sz="1650" b="1">
                        <a:solidFill>
                          <a:srgbClr val="7136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76200" marB="762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8EDF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5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用户下次主动反馈“室友答应了但没做到”，读取经授权保存的目标和上次尝试，进入后续协商练习</a:t>
                      </a:r>
                      <a:endParaRPr lang="zh-CN" altLang="en-US" sz="165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76200" marB="762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DF6F9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5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后续练习建立在真实反馈上，不必每次重新交代背景</a:t>
                      </a:r>
                      <a:endParaRPr lang="zh-CN" altLang="en-US" sz="165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76200" marB="762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D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review-accent"/>
          <p:cNvGrpSpPr/>
          <p:nvPr/>
        </p:nvGrpSpPr>
        <p:grpSpPr>
          <a:xfrm>
            <a:off x="762000" y="400050"/>
            <a:ext cx="47625" cy="457200"/>
            <a:chOff x="762000" y="400050"/>
            <a:chExt cx="47625" cy="457200"/>
          </a:xfrm>
        </p:grpSpPr>
        <p:sp>
          <p:nvSpPr>
            <p:cNvPr id="2" name="review-visual-31"/>
            <p:cNvSpPr/>
            <p:nvPr/>
          </p:nvSpPr>
          <p:spPr>
            <a:xfrm>
              <a:off x="762000" y="400050"/>
              <a:ext cx="47625" cy="457200"/>
            </a:xfrm>
            <a:prstGeom prst="rect">
              <a:avLst/>
            </a:prstGeom>
            <a:solidFill>
              <a:srgbClr val="BE6485"/>
            </a:solidFill>
            <a:ln>
              <a:noFill/>
            </a:ln>
          </p:spPr>
        </p:sp>
      </p:grpSp>
      <p:grpSp>
        <p:nvGrpSpPr>
          <p:cNvPr id="5" name="review-title"/>
          <p:cNvGrpSpPr/>
          <p:nvPr/>
        </p:nvGrpSpPr>
        <p:grpSpPr>
          <a:xfrm>
            <a:off x="956691" y="444500"/>
            <a:ext cx="6712255" cy="572072"/>
            <a:chOff x="956691" y="444500"/>
            <a:chExt cx="6712255" cy="572072"/>
          </a:xfrm>
        </p:grpSpPr>
        <p:sp>
          <p:nvSpPr>
            <p:cNvPr id="4" name="review-visual-32"/>
            <p:cNvSpPr txBox="1"/>
            <p:nvPr/>
          </p:nvSpPr>
          <p:spPr>
            <a:xfrm>
              <a:off x="956691" y="444500"/>
              <a:ext cx="6712255" cy="572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920" b="1" dirty="0">
                  <a:solidFill>
                    <a:srgbClr val="71364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评审后的改进｜从文档修订到运行验证</a:t>
              </a:r>
              <a:endParaRPr lang="zh-CN" sz="2920" b="1" dirty="0">
                <a:solidFill>
                  <a:srgbClr val="7136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7" name="improvement-process"/>
          <p:cNvGrpSpPr/>
          <p:nvPr/>
        </p:nvGrpSpPr>
        <p:grpSpPr>
          <a:xfrm>
            <a:off x="752856" y="1165225"/>
            <a:ext cx="5979262" cy="352044"/>
            <a:chOff x="752856" y="1165225"/>
            <a:chExt cx="5979262" cy="352044"/>
          </a:xfrm>
        </p:grpSpPr>
        <p:sp>
          <p:nvSpPr>
            <p:cNvPr id="6" name="review-visual-33"/>
            <p:cNvSpPr txBox="1"/>
            <p:nvPr/>
          </p:nvSpPr>
          <p:spPr>
            <a:xfrm>
              <a:off x="752856" y="1165225"/>
              <a:ext cx="59792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78687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核对两问 → 澄清定位 → 细化流程 → 对齐接口 → 补充验收</a:t>
              </a:r>
              <a:endParaRPr lang="zh-CN" sz="1800" dirty="0">
                <a:solidFill>
                  <a:srgbClr val="786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aphicFrame>
        <p:nvGraphicFramePr>
          <p:cNvPr id="8" name="review-improvements-table"/>
          <p:cNvGraphicFramePr>
            <a:graphicFrameLocks noGrp="1"/>
          </p:cNvGraphicFramePr>
          <p:nvPr/>
        </p:nvGraphicFramePr>
        <p:xfrm>
          <a:off x="762000" y="1733550"/>
          <a:ext cx="10668000" cy="40005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14500"/>
                <a:gridCol w="5333999"/>
                <a:gridCol w="3619500"/>
              </a:tblGrid>
              <a:tr h="419100">
                <a:tc>
                  <a:txBody>
                    <a:bodyPr/>
                    <a:lstStyle/>
                    <a:p>
                      <a:r>
                        <a:rPr lang="zh-CN"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改进环节</a:t>
                      </a:r>
                      <a:endParaRPr lang="zh-CN"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62865" marB="62865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71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本轮文档修订</a:t>
                      </a:r>
                      <a:endParaRPr lang="zh-CN"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62865" marB="62865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71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后续验证</a:t>
                      </a:r>
                      <a:endParaRPr lang="zh-CN"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62865" marB="62865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71364F"/>
                    </a:solidFill>
                  </a:tcPr>
                </a:tc>
              </a:tr>
              <a:tr h="895350">
                <a:tc>
                  <a:txBody>
                    <a:bodyPr/>
                    <a:lstStyle/>
                    <a:p>
                      <a:r>
                        <a:rPr lang="zh-CN" sz="1650" b="1">
                          <a:solidFill>
                            <a:srgbClr val="7136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模型与编排</a:t>
                      </a:r>
                      <a:endParaRPr lang="zh-CN" sz="1650" b="1">
                        <a:solidFill>
                          <a:srgbClr val="7136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76200" marB="762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8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65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明确API路线，首版不预训练或微调
细化单编排器、有限节点与工具白名单</a:t>
                      </a:r>
                      <a:endParaRPr lang="zh-CN" sz="165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76200" marB="762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65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同组场景选择模型
验证路由、用户确认与回退</a:t>
                      </a:r>
                      <a:endParaRPr lang="zh-CN" sz="165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76200" marB="762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/>
                    <a:lstStyle/>
                    <a:p>
                      <a:r>
                        <a:rPr lang="zh-CN" sz="1650" b="1">
                          <a:solidFill>
                            <a:srgbClr val="7136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分层记忆</a:t>
                      </a:r>
                      <a:endParaRPr lang="zh-CN" sz="1650" b="1">
                        <a:solidFill>
                          <a:srgbClr val="7136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76200" marB="762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8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65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区分会话信息、用户偏好和业务状态
补充独立授权、有效期与删除传播</a:t>
                      </a:r>
                      <a:endParaRPr lang="zh-CN" sz="165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76200" marB="762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D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65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检查隔离、撤销与过期
删除后迟到回写不得复活</a:t>
                      </a:r>
                      <a:endParaRPr lang="zh-CN" sz="165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76200" marB="762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DF6F9"/>
                    </a:solidFill>
                  </a:tcPr>
                </a:tc>
              </a:tr>
              <a:tr h="895350">
                <a:tc>
                  <a:txBody>
                    <a:bodyPr/>
                    <a:lstStyle/>
                    <a:p>
                      <a:r>
                        <a:rPr lang="zh-CN" sz="1650" b="1">
                          <a:solidFill>
                            <a:srgbClr val="7136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数据与接口</a:t>
                      </a:r>
                      <a:endParaRPr lang="zh-CN" sz="1650" b="1">
                        <a:solidFill>
                          <a:srgbClr val="7136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76200" marB="762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8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65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契约升级为1.1，补记忆与独立授权字段
同步数据设计及图示中的记忆节点</a:t>
                      </a:r>
                      <a:endParaRPr lang="zh-CN" sz="165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76200" marB="762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65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校验字段和授权
复核状态、图、接口一致</a:t>
                      </a:r>
                      <a:endParaRPr lang="zh-CN" sz="165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76200" marB="762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/>
                    <a:lstStyle/>
                    <a:p>
                      <a:r>
                        <a:rPr lang="zh-CN" sz="1650" b="1">
                          <a:solidFill>
                            <a:srgbClr val="7136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评测与证据</a:t>
                      </a:r>
                      <a:endParaRPr lang="zh-CN" sz="1650" b="1">
                        <a:solidFill>
                          <a:srgbClr val="7136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76200" marB="762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8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65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测试设计由55项补充至67项
区分案例整理稿、原始证据与实际效果</a:t>
                      </a:r>
                      <a:endParaRPr lang="zh-CN" sz="165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76200" marB="762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D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65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执行用例、登记真实结果
归档版本、成本和失败记录</a:t>
                      </a:r>
                      <a:endParaRPr lang="zh-CN" sz="165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76200" marB="762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DF6F9"/>
                    </a:solidFill>
                  </a:tcPr>
                </a:tc>
              </a:tr>
            </a:tbl>
          </a:graphicData>
        </a:graphic>
      </p:graphicFrame>
      <p:grpSp>
        <p:nvGrpSpPr>
          <p:cNvPr id="10" name="improvement-status"/>
          <p:cNvGrpSpPr/>
          <p:nvPr/>
        </p:nvGrpSpPr>
        <p:grpSpPr>
          <a:xfrm>
            <a:off x="753237" y="5899150"/>
            <a:ext cx="7195464" cy="337376"/>
            <a:chOff x="753237" y="5899150"/>
            <a:chExt cx="7195464" cy="337376"/>
          </a:xfrm>
        </p:grpSpPr>
        <p:sp>
          <p:nvSpPr>
            <p:cNvPr id="9" name="review-visual-64"/>
            <p:cNvSpPr txBox="1"/>
            <p:nvPr/>
          </p:nvSpPr>
          <p:spPr>
            <a:xfrm>
              <a:off x="753237" y="5899150"/>
              <a:ext cx="719546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71364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原有幂等结构仍需跨稿同步；文档修订不代表实现与运行验证已完成。</a:t>
              </a:r>
              <a:endParaRPr lang="zh-CN" sz="1720" b="1" dirty="0">
                <a:solidFill>
                  <a:srgbClr val="7136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3" name="review-footer"/>
          <p:cNvGrpSpPr/>
          <p:nvPr/>
        </p:nvGrpSpPr>
        <p:grpSpPr>
          <a:xfrm>
            <a:off x="762000" y="6343650"/>
            <a:ext cx="10674096" cy="339471"/>
            <a:chOff x="762000" y="6343650"/>
            <a:chExt cx="10674096" cy="339471"/>
          </a:xfrm>
        </p:grpSpPr>
        <p:sp>
          <p:nvSpPr>
            <p:cNvPr id="11" name="Line 11"/>
            <p:cNvSpPr/>
            <p:nvPr/>
          </p:nvSpPr>
          <p:spPr>
            <a:xfrm>
              <a:off x="762000" y="63436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9DCE3"/>
              </a:solidFill>
            </a:ln>
          </p:spPr>
        </p:sp>
        <p:sp>
          <p:nvSpPr>
            <p:cNvPr id="12" name="review-visual-66"/>
            <p:cNvSpPr txBox="1"/>
            <p:nvPr/>
          </p:nvSpPr>
          <p:spPr>
            <a:xfrm>
              <a:off x="10882732" y="64484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8687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18 / 24</a:t>
              </a:r>
              <a:endParaRPr lang="zh-CN" sz="1200" dirty="0">
                <a:solidFill>
                  <a:srgbClr val="786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sual-slide_12-2"/>
          <p:cNvSpPr/>
          <p:nvPr/>
        </p:nvSpPr>
        <p:spPr>
          <a:xfrm>
            <a:off x="762000" y="400050"/>
            <a:ext cx="47625" cy="457200"/>
          </a:xfrm>
          <a:prstGeom prst="rect">
            <a:avLst/>
          </a:prstGeom>
          <a:solidFill>
            <a:srgbClr val="BE6485"/>
          </a:solidFill>
          <a:ln>
            <a:noFill/>
          </a:ln>
        </p:spPr>
      </p:sp>
      <p:graphicFrame>
        <p:nvGraphicFramePr>
          <p:cNvPr id="3" name="p12-weekly-plan"/>
          <p:cNvGraphicFramePr>
            <a:graphicFrameLocks noGrp="1"/>
          </p:cNvGraphicFramePr>
          <p:nvPr/>
        </p:nvGraphicFramePr>
        <p:xfrm>
          <a:off x="762000" y="1809750"/>
          <a:ext cx="10668000" cy="408622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00200"/>
                <a:gridCol w="3714750"/>
                <a:gridCol w="2476500"/>
                <a:gridCol w="2876550"/>
              </a:tblGrid>
              <a:tr h="419100">
                <a:tc>
                  <a:txBody>
                    <a:bodyPr/>
                    <a:lstStyle/>
                    <a:p>
                      <a:r>
                        <a:rPr lang="zh-CN" sz="158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周次 / 时间</a:t>
                      </a:r>
                      <a:endParaRPr lang="zh-CN" sz="158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69088" marB="69088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71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8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具体开发任务</a:t>
                      </a:r>
                      <a:endParaRPr lang="zh-CN" sz="158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69088" marB="69088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71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8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里程碑</a:t>
                      </a:r>
                      <a:endParaRPr lang="zh-CN" sz="158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69088" marB="69088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71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8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相应产出</a:t>
                      </a:r>
                      <a:endParaRPr lang="zh-CN" sz="158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69088" marB="69088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71364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lang="en-US" sz="1650" b="1">
                          <a:solidFill>
                            <a:srgbClr val="7136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W1
10/19–25</a:t>
                      </a:r>
                      <a:endParaRPr lang="en-US" sz="1650" b="1">
                        <a:solidFill>
                          <a:srgbClr val="7136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8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65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完善架构、接口与数据库设计
冻结基础版范围；准备开发环境</a:t>
                      </a:r>
                      <a:endParaRPr lang="zh-CN" sz="165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65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M1 开发基线明确
任务与依赖确认</a:t>
                      </a:r>
                      <a:endParaRPr lang="zh-CN" sz="165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65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设计说明书、接口清单
迁移初稿、任务清单</a:t>
                      </a:r>
                      <a:endParaRPr lang="zh-CN" sz="165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lang="en-US" sz="1650" b="1">
                          <a:solidFill>
                            <a:srgbClr val="7136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W2
10/26–11/1</a:t>
                      </a:r>
                      <a:endParaRPr lang="en-US" sz="1650" b="1">
                        <a:solidFill>
                          <a:srgbClr val="7136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8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65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开发登录、陪伴与主动保存
联调回看/退出；训练与桌宠初测</a:t>
                      </a:r>
                      <a:endParaRPr lang="zh-CN" sz="165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D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65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M2 跑通核心流程
核心链路联调可用</a:t>
                      </a:r>
                      <a:endParaRPr lang="zh-CN" sz="165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D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65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代码、契约与迁移脚本
联调记录、桌宠初测</a:t>
                      </a:r>
                      <a:endParaRPr lang="zh-CN" sz="165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DF6F9"/>
                    </a:solidFill>
                  </a:tcPr>
                </a:tc>
              </a:tr>
              <a:tr h="1285875">
                <a:tc>
                  <a:txBody>
                    <a:bodyPr/>
                    <a:lstStyle/>
                    <a:p>
                      <a:r>
                        <a:rPr lang="en-US" sz="1650" b="1">
                          <a:solidFill>
                            <a:srgbClr val="7136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W3
11/02–08</a:t>
                      </a:r>
                      <a:endParaRPr lang="en-US" sz="1650" b="1">
                        <a:solidFill>
                          <a:srgbClr val="7136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8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65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集成账号、陪伴/命名
记录/日历、固定减压训练
最小桌宠壳联调；修复阻断</a:t>
                      </a:r>
                      <a:endParaRPr lang="zh-CN" sz="165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65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M3 基础版 V0.1
11/04候选
11/06修复
11/08验收交付</a:t>
                      </a:r>
                      <a:endParaRPr lang="zh-CN" sz="165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65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运行包/源码、启动说明
演示脚本、验收记录
已知问题清单</a:t>
                      </a:r>
                      <a:endParaRPr lang="zh-CN" sz="165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visual-slide_12-36"/>
          <p:cNvSpPr txBox="1"/>
          <p:nvPr/>
        </p:nvSpPr>
        <p:spPr>
          <a:xfrm>
            <a:off x="754380" y="5956300"/>
            <a:ext cx="740133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136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基础版门槛：核心流程可复现，保存/清除、退出失效、训练停止及隐私边界有效。</a:t>
            </a:r>
            <a:endParaRPr lang="zh-CN" sz="1500" b="1" dirty="0">
              <a:solidFill>
                <a:srgbClr val="7136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8" name="page-footer"/>
          <p:cNvGrpSpPr/>
          <p:nvPr/>
        </p:nvGrpSpPr>
        <p:grpSpPr>
          <a:xfrm>
            <a:off x="762000" y="6343650"/>
            <a:ext cx="10674096" cy="339471"/>
            <a:chOff x="762000" y="6343650"/>
            <a:chExt cx="10674096" cy="339471"/>
          </a:xfrm>
        </p:grpSpPr>
        <p:sp>
          <p:nvSpPr>
            <p:cNvPr id="5" name="Line 5"/>
            <p:cNvSpPr/>
            <p:nvPr/>
          </p:nvSpPr>
          <p:spPr>
            <a:xfrm>
              <a:off x="762000" y="63436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9DCE3"/>
              </a:solidFill>
            </a:ln>
          </p:spPr>
        </p:sp>
        <p:sp>
          <p:nvSpPr>
            <p:cNvPr id="7" name="visual-slide_12-39"/>
            <p:cNvSpPr/>
            <p:nvPr/>
          </p:nvSpPr>
          <p:spPr>
            <a:xfrm>
              <a:off x="10882694" y="6448425"/>
              <a:ext cx="5534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200" dirty="0">
                  <a:solidFill>
                    <a:srgbClr val="78687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19 / 24</a:t>
              </a:r>
              <a:endParaRPr lang="zh-CN" sz="1200" dirty="0">
                <a:solidFill>
                  <a:srgbClr val="786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9" name="visual-slide_12-40"/>
          <p:cNvSpPr txBox="1"/>
          <p:nvPr/>
        </p:nvSpPr>
        <p:spPr>
          <a:xfrm>
            <a:off x="956310" y="422275"/>
            <a:ext cx="638420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7136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开发计划｜11月2日当周交付基础版</a:t>
            </a:r>
            <a:endParaRPr lang="zh-CN" sz="3000" b="1" dirty="0">
              <a:solidFill>
                <a:srgbClr val="7136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visual-slide_12-41"/>
          <p:cNvSpPr txBox="1"/>
          <p:nvPr/>
        </p:nvSpPr>
        <p:spPr>
          <a:xfrm>
            <a:off x="753618" y="1311275"/>
            <a:ext cx="475909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786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2026年预期安排 · 每周明确任务、里程碑与产出</a:t>
            </a:r>
            <a:endParaRPr lang="zh-CN" sz="1650" dirty="0">
              <a:solidFill>
                <a:srgbClr val="7868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sual-slide_13-2"/>
          <p:cNvSpPr/>
          <p:nvPr/>
        </p:nvSpPr>
        <p:spPr>
          <a:xfrm>
            <a:off x="762000" y="400050"/>
            <a:ext cx="47625" cy="457200"/>
          </a:xfrm>
          <a:prstGeom prst="rect">
            <a:avLst/>
          </a:prstGeom>
          <a:solidFill>
            <a:srgbClr val="BE6485"/>
          </a:solidFill>
          <a:ln>
            <a:noFill/>
          </a:ln>
        </p:spPr>
      </p:sp>
      <p:graphicFrame>
        <p:nvGraphicFramePr>
          <p:cNvPr id="3" name="p13-weekly-plan"/>
          <p:cNvGraphicFramePr>
            <a:graphicFrameLocks noGrp="1"/>
          </p:cNvGraphicFramePr>
          <p:nvPr/>
        </p:nvGraphicFramePr>
        <p:xfrm>
          <a:off x="762000" y="1809750"/>
          <a:ext cx="10668000" cy="408622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00200"/>
                <a:gridCol w="3714750"/>
                <a:gridCol w="2476500"/>
                <a:gridCol w="2876550"/>
              </a:tblGrid>
              <a:tr h="419100">
                <a:tc>
                  <a:txBody>
                    <a:bodyPr/>
                    <a:lstStyle/>
                    <a:p>
                      <a:r>
                        <a:rPr lang="zh-CN" sz="158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周次 / 时间</a:t>
                      </a:r>
                      <a:endParaRPr lang="zh-CN" sz="158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69088" marB="69088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71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8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具体开发任务</a:t>
                      </a:r>
                      <a:endParaRPr lang="zh-CN" sz="158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69088" marB="69088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71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8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里程碑</a:t>
                      </a:r>
                      <a:endParaRPr lang="zh-CN" sz="158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69088" marB="69088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71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8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相应产出</a:t>
                      </a:r>
                      <a:endParaRPr lang="zh-CN" sz="158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69088" marB="69088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71364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lang="en-US" sz="1650" b="1">
                          <a:solidFill>
                            <a:srgbClr val="7136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W4
11/09–15</a:t>
                      </a:r>
                      <a:endParaRPr lang="en-US" sz="1650" b="1">
                        <a:solidFill>
                          <a:srgbClr val="7136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8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65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补齐查询来源、物件/排练/寄存
集成三类互动与桌宠增强</a:t>
                      </a:r>
                      <a:endParaRPr lang="zh-CN" sz="165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65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M4 冲刺版 V0.2
主要模块完成集成</a:t>
                      </a:r>
                      <a:endParaRPr lang="zh-CN" sz="165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65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新增代码、运行包
接口更新、增量测试
缺陷清单</a:t>
                      </a:r>
                      <a:endParaRPr lang="zh-CN" sz="165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lang="en-US" sz="1650" b="1">
                          <a:solidFill>
                            <a:srgbClr val="7136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W5
11/16–22</a:t>
                      </a:r>
                      <a:endParaRPr lang="en-US" sz="1650" b="1">
                        <a:solidFill>
                          <a:srgbClr val="7136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8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65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集中冲刺①：回归与用户测试
安全/性能/交互优化、恢复验证</a:t>
                      </a:r>
                      <a:endParaRPr lang="zh-CN" sz="165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D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65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M5 候选版 V0.9
阻断/高风险问题关闭</a:t>
                      </a:r>
                      <a:endParaRPr lang="zh-CN" sz="165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D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65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全量报告、复测记录
用户记录、性能对照
备份恢复说明</a:t>
                      </a:r>
                      <a:endParaRPr lang="zh-CN" sz="165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DF6F9"/>
                    </a:solidFill>
                  </a:tcPr>
                </a:tc>
              </a:tr>
              <a:tr h="1285875">
                <a:tc>
                  <a:txBody>
                    <a:bodyPr/>
                    <a:lstStyle/>
                    <a:p>
                      <a:r>
                        <a:rPr lang="en-US" sz="1650" b="1">
                          <a:solidFill>
                            <a:srgbClr val="7136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W6
11/23–29</a:t>
                      </a:r>
                      <a:endParaRPr lang="en-US" sz="1650" b="1">
                        <a:solidFill>
                          <a:srgbClr val="7136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8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65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集中冲刺②：冻结新增
修复缺陷、部署/回退复测
完成交接与展示演练</a:t>
                      </a:r>
                      <a:endParaRPr lang="zh-CN" sz="165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65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M6 稳定交付版
非作者按说明
复现运行</a:t>
                      </a:r>
                      <a:endParaRPr lang="zh-CN" sz="165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65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源码/运行包、部署说明
最终报告、演示材料
版本说明、清单与复盘</a:t>
                      </a:r>
                      <a:endParaRPr lang="zh-CN" sz="165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visual-slide_13-36"/>
          <p:cNvSpPr txBox="1"/>
          <p:nvPr/>
        </p:nvSpPr>
        <p:spPr>
          <a:xfrm>
            <a:off x="754380" y="5956300"/>
            <a:ext cx="66789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136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最终提交时间以课程通知为准；未完成项与入口降级状态随版本明确列出。</a:t>
            </a:r>
            <a:endParaRPr lang="zh-CN" sz="1500" b="1" dirty="0">
              <a:solidFill>
                <a:srgbClr val="7136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8" name="page-footer"/>
          <p:cNvGrpSpPr/>
          <p:nvPr/>
        </p:nvGrpSpPr>
        <p:grpSpPr>
          <a:xfrm>
            <a:off x="762000" y="6343650"/>
            <a:ext cx="10674096" cy="339471"/>
            <a:chOff x="762000" y="6343650"/>
            <a:chExt cx="10674096" cy="339471"/>
          </a:xfrm>
        </p:grpSpPr>
        <p:sp>
          <p:nvSpPr>
            <p:cNvPr id="5" name="Line 5"/>
            <p:cNvSpPr/>
            <p:nvPr/>
          </p:nvSpPr>
          <p:spPr>
            <a:xfrm>
              <a:off x="762000" y="63436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9DCE3"/>
              </a:solidFill>
            </a:ln>
          </p:spPr>
        </p:sp>
        <p:sp>
          <p:nvSpPr>
            <p:cNvPr id="7" name="visual-slide_13-39"/>
            <p:cNvSpPr/>
            <p:nvPr/>
          </p:nvSpPr>
          <p:spPr>
            <a:xfrm>
              <a:off x="10882694" y="6448425"/>
              <a:ext cx="5534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200" dirty="0">
                  <a:solidFill>
                    <a:srgbClr val="78687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20 / 24</a:t>
              </a:r>
              <a:endParaRPr lang="zh-CN" sz="1200" dirty="0">
                <a:solidFill>
                  <a:srgbClr val="786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9" name="visual-slide_13-40"/>
          <p:cNvSpPr txBox="1"/>
          <p:nvPr/>
        </p:nvSpPr>
        <p:spPr>
          <a:xfrm>
            <a:off x="956310" y="422275"/>
            <a:ext cx="574711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7136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开发计划｜11月中下旬集中冲刺</a:t>
            </a:r>
            <a:endParaRPr lang="zh-CN" sz="3000" b="1" dirty="0">
              <a:solidFill>
                <a:srgbClr val="7136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visual-slide_13-41"/>
          <p:cNvSpPr txBox="1"/>
          <p:nvPr/>
        </p:nvSpPr>
        <p:spPr>
          <a:xfrm>
            <a:off x="753618" y="1311275"/>
            <a:ext cx="66804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786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基础版后补齐功能；冲刺期间优先修复核心流程、安全与稳定性问题</a:t>
            </a:r>
            <a:endParaRPr lang="zh-CN" sz="1650" dirty="0">
              <a:solidFill>
                <a:srgbClr val="7868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ssignment-heading"/>
          <p:cNvGrpSpPr/>
          <p:nvPr/>
        </p:nvGrpSpPr>
        <p:grpSpPr>
          <a:xfrm>
            <a:off x="762000" y="400050"/>
            <a:ext cx="47625" cy="457200"/>
            <a:chOff x="762000" y="400050"/>
            <a:chExt cx="47625" cy="457200"/>
          </a:xfrm>
        </p:grpSpPr>
        <p:sp>
          <p:nvSpPr>
            <p:cNvPr id="2" name="assignment-2"/>
            <p:cNvSpPr/>
            <p:nvPr/>
          </p:nvSpPr>
          <p:spPr>
            <a:xfrm>
              <a:off x="762000" y="400050"/>
              <a:ext cx="47625" cy="457200"/>
            </a:xfrm>
            <a:prstGeom prst="rect">
              <a:avLst/>
            </a:prstGeom>
            <a:solidFill>
              <a:srgbClr val="BE6485"/>
            </a:solidFill>
            <a:ln>
              <a:noFill/>
            </a:ln>
          </p:spPr>
        </p:sp>
      </p:grpSp>
      <p:grpSp>
        <p:nvGrpSpPr>
          <p:cNvPr id="5" name="assignment-title"/>
          <p:cNvGrpSpPr/>
          <p:nvPr/>
        </p:nvGrpSpPr>
        <p:grpSpPr>
          <a:xfrm>
            <a:off x="955548" y="419100"/>
            <a:ext cx="3848481" cy="616077"/>
            <a:chOff x="955548" y="419100"/>
            <a:chExt cx="3848481" cy="616077"/>
          </a:xfrm>
        </p:grpSpPr>
        <p:sp>
          <p:nvSpPr>
            <p:cNvPr id="4" name="assignment-3"/>
            <p:cNvSpPr txBox="1"/>
            <p:nvPr/>
          </p:nvSpPr>
          <p:spPr>
            <a:xfrm>
              <a:off x="955548" y="419100"/>
              <a:ext cx="384848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71364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本次作业分工与贡献</a:t>
              </a:r>
              <a:endParaRPr lang="zh-CN" sz="3150" b="1" dirty="0">
                <a:solidFill>
                  <a:srgbClr val="7136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aphicFrame>
        <p:nvGraphicFramePr>
          <p:cNvPr id="6" name="current-assignment-table"/>
          <p:cNvGraphicFramePr>
            <a:graphicFrameLocks noGrp="1"/>
          </p:cNvGraphicFramePr>
          <p:nvPr/>
        </p:nvGraphicFramePr>
        <p:xfrm>
          <a:off x="762000" y="1371600"/>
          <a:ext cx="10668000" cy="49149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95400"/>
                <a:gridCol w="1619250"/>
                <a:gridCol w="4286249"/>
                <a:gridCol w="2667000"/>
                <a:gridCol w="800101"/>
              </a:tblGrid>
              <a:tr h="419100">
                <a:tc>
                  <a:txBody>
                    <a:bodyPr/>
                    <a:lstStyle/>
                    <a:p>
                      <a:r>
                        <a:rPr lang="zh-CN" sz="158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成员</a:t>
                      </a:r>
                      <a:endParaRPr lang="zh-CN" sz="158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38100" marB="381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71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8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本次角色</a:t>
                      </a:r>
                      <a:endParaRPr lang="zh-CN" sz="158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38100" marB="381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71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8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本次负责的工作</a:t>
                      </a:r>
                      <a:endParaRPr lang="zh-CN" sz="158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38100" marB="381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71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8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相应产出</a:t>
                      </a:r>
                      <a:endParaRPr lang="zh-CN" sz="158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38100" marB="381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7136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8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贡献</a:t>
                      </a:r>
                      <a:endParaRPr lang="zh-CN" sz="158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38100" marB="381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71364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lang="zh-CN" sz="1580" b="1">
                          <a:solidFill>
                            <a:srgbClr val="7136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张王昊</a:t>
                      </a:r>
                      <a:endParaRPr lang="zh-CN" sz="1580" b="1">
                        <a:solidFill>
                          <a:srgbClr val="7136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38100" marB="381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8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8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PM / 需求</a:t>
                      </a:r>
                      <a:endParaRPr lang="zh-CN" sz="158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38100" marB="381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80" b="0" dirty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范围、需求追踪、排期</a:t>
                      </a:r>
                      <a:endParaRPr lang="zh-CN" sz="1580" b="0" dirty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38100" marB="381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8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追踪表、计划、博客</a:t>
                      </a:r>
                      <a:endParaRPr lang="zh-CN" sz="158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38100" marB="381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80" b="1">
                          <a:solidFill>
                            <a:srgbClr val="7136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12%</a:t>
                      </a:r>
                      <a:endParaRPr lang="zh-CN" sz="1580" b="1">
                        <a:solidFill>
                          <a:srgbClr val="7136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38100" marB="381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lang="zh-CN" sz="1580" b="1">
                          <a:solidFill>
                            <a:srgbClr val="7136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郭昱祺</a:t>
                      </a:r>
                      <a:endParaRPr lang="zh-CN" sz="1580" b="1">
                        <a:solidFill>
                          <a:srgbClr val="7136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38100" marB="381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8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8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UX / 产品</a:t>
                      </a:r>
                      <a:endParaRPr lang="zh-CN" sz="158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38100" marB="381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D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8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功能层次、交互流程与PPT整合</a:t>
                      </a:r>
                      <a:endParaRPr lang="zh-CN" sz="158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38100" marB="381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D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8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功能图、流程图、PPT</a:t>
                      </a:r>
                      <a:endParaRPr lang="zh-CN" sz="158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38100" marB="381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D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80" b="1">
                          <a:solidFill>
                            <a:srgbClr val="7136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12%</a:t>
                      </a:r>
                      <a:endParaRPr lang="zh-CN" sz="1580" b="1">
                        <a:solidFill>
                          <a:srgbClr val="7136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38100" marB="381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DF6F9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lang="zh-CN" sz="1580" b="1">
                          <a:solidFill>
                            <a:srgbClr val="7136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程杰</a:t>
                      </a:r>
                      <a:endParaRPr lang="zh-CN" sz="1580" b="1">
                        <a:solidFill>
                          <a:srgbClr val="7136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38100" marB="381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8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8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前端 / 多端</a:t>
                      </a:r>
                      <a:endParaRPr lang="zh-CN" sz="158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38100" marB="381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8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前端组件、多入口及端侧互动设计</a:t>
                      </a:r>
                      <a:endParaRPr lang="zh-CN" sz="158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38100" marB="381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8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前端章节、入口能力表</a:t>
                      </a:r>
                      <a:endParaRPr lang="zh-CN" sz="158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38100" marB="381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80" b="1">
                          <a:solidFill>
                            <a:srgbClr val="7136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12%</a:t>
                      </a:r>
                      <a:endParaRPr lang="zh-CN" sz="1580" b="1">
                        <a:solidFill>
                          <a:srgbClr val="7136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38100" marB="381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lang="zh-CN" sz="1580" b="1">
                          <a:solidFill>
                            <a:srgbClr val="7136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李泉毅</a:t>
                      </a:r>
                      <a:endParaRPr lang="zh-CN" sz="1580" b="1">
                        <a:solidFill>
                          <a:srgbClr val="7136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38100" marB="381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8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8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后端 / 架构</a:t>
                      </a:r>
                      <a:endParaRPr lang="zh-CN" sz="158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38100" marB="381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D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80" b="0" dirty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架构、类图、接口设计及答辩</a:t>
                      </a:r>
                      <a:endParaRPr lang="zh-CN" sz="1580" b="0" dirty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38100" marB="381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D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8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系统说明书、接口规范</a:t>
                      </a:r>
                      <a:endParaRPr lang="zh-CN" sz="158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38100" marB="381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D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80" b="1">
                          <a:solidFill>
                            <a:srgbClr val="7136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16%</a:t>
                      </a:r>
                      <a:endParaRPr lang="zh-CN" sz="1580" b="1">
                        <a:solidFill>
                          <a:srgbClr val="7136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38100" marB="381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DF6F9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lang="zh-CN" sz="1580" b="1">
                          <a:solidFill>
                            <a:srgbClr val="7136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程群</a:t>
                      </a:r>
                      <a:endParaRPr lang="zh-CN" sz="1580" b="1">
                        <a:solidFill>
                          <a:srgbClr val="7136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38100" marB="381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8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8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智能体 / AI</a:t>
                      </a:r>
                      <a:endParaRPr lang="zh-CN" sz="158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38100" marB="381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8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AI编排、上下文控制与模型异常设计</a:t>
                      </a:r>
                      <a:endParaRPr lang="zh-CN" sz="158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38100" marB="381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8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AI章节、编排/时序图</a:t>
                      </a:r>
                      <a:endParaRPr lang="zh-CN" sz="158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38100" marB="381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80" b="1">
                          <a:solidFill>
                            <a:srgbClr val="7136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12%</a:t>
                      </a:r>
                      <a:endParaRPr lang="zh-CN" sz="1580" b="1">
                        <a:solidFill>
                          <a:srgbClr val="7136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38100" marB="381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lang="zh-CN" sz="1580" b="1">
                          <a:solidFill>
                            <a:srgbClr val="7136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庄剀涵</a:t>
                      </a:r>
                      <a:endParaRPr lang="zh-CN" sz="1580" b="1">
                        <a:solidFill>
                          <a:srgbClr val="7136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38100" marB="381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8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8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搜索 / 数据</a:t>
                      </a:r>
                      <a:endParaRPr lang="zh-CN" sz="158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38100" marB="381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D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80" b="0" dirty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ER、表结构、检索及数据库说明书整合</a:t>
                      </a:r>
                      <a:endParaRPr lang="zh-CN" sz="1580" b="0" dirty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38100" marB="381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D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8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数据库说明书、ER/SQL</a:t>
                      </a:r>
                      <a:endParaRPr lang="zh-CN" sz="158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38100" marB="381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D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80" b="1">
                          <a:solidFill>
                            <a:srgbClr val="7136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15%</a:t>
                      </a:r>
                      <a:endParaRPr lang="zh-CN" sz="1580" b="1">
                        <a:solidFill>
                          <a:srgbClr val="7136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38100" marB="381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DF6F9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lang="zh-CN" sz="1580" b="1">
                          <a:solidFill>
                            <a:srgbClr val="7136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关欣</a:t>
                      </a:r>
                      <a:endParaRPr lang="zh-CN" sz="1580" b="1">
                        <a:solidFill>
                          <a:srgbClr val="7136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38100" marB="381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8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8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安全 / 审核</a:t>
                      </a:r>
                      <a:endParaRPr lang="zh-CN" sz="158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38100" marB="381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8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权限、安全隐私、健壮性与现场评审</a:t>
                      </a:r>
                      <a:endParaRPr lang="zh-CN" sz="158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38100" marB="381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8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权限矩阵、风险/评审表</a:t>
                      </a:r>
                      <a:endParaRPr lang="zh-CN" sz="158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38100" marB="381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80" b="1">
                          <a:solidFill>
                            <a:srgbClr val="7136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10%</a:t>
                      </a:r>
                      <a:endParaRPr lang="zh-CN" sz="1580" b="1">
                        <a:solidFill>
                          <a:srgbClr val="7136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38100" marB="381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lang="zh-CN" sz="1580" b="1">
                          <a:solidFill>
                            <a:srgbClr val="7136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曾俊涛</a:t>
                      </a:r>
                      <a:endParaRPr lang="zh-CN" sz="1580" b="1">
                        <a:solidFill>
                          <a:srgbClr val="7136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38100" marB="381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8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8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测试 / 运维</a:t>
                      </a:r>
                      <a:endParaRPr lang="zh-CN" sz="158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38100" marB="381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D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8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设计验收、部署恢复、仓库与设备检查</a:t>
                      </a:r>
                      <a:endParaRPr lang="zh-CN" sz="158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38100" marB="381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D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8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检查报告、PDF/交付清单</a:t>
                      </a:r>
                      <a:endParaRPr lang="zh-CN" sz="158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38100" marB="381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D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80" b="1" dirty="0">
                          <a:solidFill>
                            <a:srgbClr val="7136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11%</a:t>
                      </a:r>
                      <a:endParaRPr lang="zh-CN" sz="1580" b="1" dirty="0">
                        <a:solidFill>
                          <a:srgbClr val="7136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38100" marB="3810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DF6F9"/>
                    </a:solidFill>
                  </a:tcPr>
                </a:tc>
              </a:tr>
            </a:tbl>
          </a:graphicData>
        </a:graphic>
      </p:graphicFrame>
      <p:grpSp>
        <p:nvGrpSpPr>
          <p:cNvPr id="9" name="assignment-footer"/>
          <p:cNvGrpSpPr/>
          <p:nvPr/>
        </p:nvGrpSpPr>
        <p:grpSpPr>
          <a:xfrm>
            <a:off x="762000" y="6343650"/>
            <a:ext cx="10674096" cy="339471"/>
            <a:chOff x="762000" y="6343650"/>
            <a:chExt cx="10674096" cy="339471"/>
          </a:xfrm>
        </p:grpSpPr>
        <p:sp>
          <p:nvSpPr>
            <p:cNvPr id="7" name="Line 7"/>
            <p:cNvSpPr/>
            <p:nvPr/>
          </p:nvSpPr>
          <p:spPr>
            <a:xfrm>
              <a:off x="762000" y="63436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9DCE3"/>
              </a:solidFill>
            </a:ln>
          </p:spPr>
        </p:sp>
        <p:sp>
          <p:nvSpPr>
            <p:cNvPr id="8" name="assignment-95"/>
            <p:cNvSpPr/>
            <p:nvPr/>
          </p:nvSpPr>
          <p:spPr>
            <a:xfrm>
              <a:off x="10882694" y="6448425"/>
              <a:ext cx="5534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200" dirty="0">
                  <a:solidFill>
                    <a:srgbClr val="78687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21 / 24</a:t>
              </a:r>
              <a:endParaRPr lang="zh-CN" sz="1200" dirty="0">
                <a:solidFill>
                  <a:srgbClr val="786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sual-slide_15-2"/>
          <p:cNvSpPr/>
          <p:nvPr/>
        </p:nvSpPr>
        <p:spPr>
          <a:xfrm>
            <a:off x="762000" y="400050"/>
            <a:ext cx="47625" cy="457200"/>
          </a:xfrm>
          <a:prstGeom prst="rect">
            <a:avLst/>
          </a:prstGeom>
          <a:solidFill>
            <a:srgbClr val="BE6485"/>
          </a:solidFill>
          <a:ln>
            <a:noFill/>
          </a:ln>
        </p:spPr>
      </p:sp>
      <p:graphicFrame>
        <p:nvGraphicFramePr>
          <p:cNvPr id="3" name="p15-team-roles"/>
          <p:cNvGraphicFramePr>
            <a:graphicFrameLocks noGrp="1"/>
          </p:cNvGraphicFramePr>
          <p:nvPr/>
        </p:nvGraphicFramePr>
        <p:xfrm>
          <a:off x="762000" y="1809750"/>
          <a:ext cx="10668000" cy="421005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05001"/>
                <a:gridCol w="5905499"/>
                <a:gridCol w="2857500"/>
              </a:tblGrid>
              <a:tr h="400050">
                <a:tc>
                  <a:txBody>
                    <a:bodyPr/>
                    <a:lstStyle/>
                    <a:p>
                      <a:r>
                        <a:rPr lang="zh-CN" sz="158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成员 / 项目角色</a:t>
                      </a:r>
                      <a:endParaRPr lang="zh-CN" sz="158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9563" marB="59563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71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8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负责的详细开发部分</a:t>
                      </a:r>
                      <a:endParaRPr lang="zh-CN" sz="158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9563" marB="59563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71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8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主要产出</a:t>
                      </a:r>
                      <a:endParaRPr lang="zh-CN" sz="158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9563" marB="59563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71364F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lang="zh-CN" sz="1650" b="1">
                          <a:solidFill>
                            <a:srgbClr val="7136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张王昊
PM / 需求分析</a:t>
                      </a:r>
                      <a:endParaRPr lang="zh-CN" sz="1650" b="1">
                        <a:solidFill>
                          <a:srgbClr val="7136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8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65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维护17项需求、周任务与依赖；制定切换/保存规则
组织V0.1与冲刺验收，管理变更、风险和缺陷优先级</a:t>
                      </a:r>
                      <a:endParaRPr lang="zh-CN" sz="165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65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任务/追踪表、验收标准
变更记录、版本说明</a:t>
                      </a:r>
                      <a:endParaRPr lang="zh-CN" sz="165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lang="zh-CN" sz="1650" b="1">
                          <a:solidFill>
                            <a:srgbClr val="7136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郭昱祺
UX / 产品设计</a:t>
                      </a:r>
                      <a:endParaRPr lang="zh-CN" sz="1650" b="1">
                        <a:solidFill>
                          <a:srgbClr val="7136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8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65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设计登录、陪伴、日历、物件/寄存/排练与桌宠流程
统一视觉与状态；走查实现，组织可用性改进</a:t>
                      </a:r>
                      <a:endParaRPr lang="zh-CN" sz="165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D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65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原型、视觉/交互规范
走查清单、优化与演示素材</a:t>
                      </a:r>
                      <a:endParaRPr lang="zh-CN" sz="165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DF6F9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lang="zh-CN" sz="1650" b="1">
                          <a:solidFill>
                            <a:srgbClr val="7136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程杰
前端 / 桌宠开发</a:t>
                      </a:r>
                      <a:endParaRPr lang="zh-CN" sz="1650" b="1">
                        <a:solidFill>
                          <a:srgbClr val="7136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8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65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实现React页面与API接入、Electron窗口/白名单通信
开发训练UI与三类互动；处理取消、退出和资源释放</a:t>
                      </a:r>
                      <a:endParaRPr lang="zh-CN" sz="165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65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Web/桌宠代码与构建包
入口矩阵、清理/联调记录</a:t>
                      </a:r>
                      <a:endParaRPr lang="zh-CN" sz="165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lang="zh-CN" sz="1650" b="1">
                          <a:solidFill>
                            <a:srgbClr val="7136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李泉毅
后端 / 架构接口</a:t>
                      </a:r>
                      <a:endParaRPr lang="zh-CN" sz="1650" b="1">
                        <a:solidFill>
                          <a:srgbClr val="7136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8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65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实现认证会话、资料偏好、业务会话与记录访问服务
统一Schema/鉴权/错误；处理取消、并发和事务</a:t>
                      </a:r>
                      <a:endParaRPr lang="zh-CN" sz="165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D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65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后端代码、共享契约/API
认证服务、联调/异常记录</a:t>
                      </a:r>
                      <a:endParaRPr lang="zh-CN" sz="165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DF6F9"/>
                    </a:solidFill>
                  </a:tcPr>
                </a:tc>
              </a:tr>
            </a:tbl>
          </a:graphicData>
        </a:graphic>
      </p:graphicFrame>
      <p:grpSp>
        <p:nvGrpSpPr>
          <p:cNvPr id="8" name="page-footer"/>
          <p:cNvGrpSpPr/>
          <p:nvPr/>
        </p:nvGrpSpPr>
        <p:grpSpPr>
          <a:xfrm>
            <a:off x="762000" y="6343650"/>
            <a:ext cx="10674096" cy="339471"/>
            <a:chOff x="762000" y="6343650"/>
            <a:chExt cx="10674096" cy="339471"/>
          </a:xfrm>
        </p:grpSpPr>
        <p:sp>
          <p:nvSpPr>
            <p:cNvPr id="5" name="Line 5"/>
            <p:cNvSpPr/>
            <p:nvPr/>
          </p:nvSpPr>
          <p:spPr>
            <a:xfrm>
              <a:off x="762000" y="63436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9DCE3"/>
              </a:solidFill>
            </a:ln>
          </p:spPr>
        </p:sp>
        <p:sp>
          <p:nvSpPr>
            <p:cNvPr id="7" name="visual-slide_15-37"/>
            <p:cNvSpPr/>
            <p:nvPr/>
          </p:nvSpPr>
          <p:spPr>
            <a:xfrm>
              <a:off x="10882694" y="6448425"/>
              <a:ext cx="5534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200" dirty="0">
                  <a:solidFill>
                    <a:srgbClr val="78687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22 / 24</a:t>
              </a:r>
              <a:endParaRPr lang="zh-CN" sz="1200" dirty="0">
                <a:solidFill>
                  <a:srgbClr val="786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9" name="visual-slide_15-38"/>
          <p:cNvSpPr txBox="1"/>
          <p:nvPr/>
        </p:nvSpPr>
        <p:spPr>
          <a:xfrm>
            <a:off x="956310" y="422275"/>
            <a:ext cx="528066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7136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开发分工｜产品、前端与后端</a:t>
            </a:r>
            <a:endParaRPr lang="zh-CN" sz="3000" b="1" dirty="0">
              <a:solidFill>
                <a:srgbClr val="7136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visual-slide_15-39"/>
          <p:cNvSpPr txBox="1"/>
          <p:nvPr/>
        </p:nvSpPr>
        <p:spPr>
          <a:xfrm>
            <a:off x="753618" y="1311275"/>
            <a:ext cx="66804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786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每位成员明确角色、开发范围与产出；各作者负责实现、联调和修复</a:t>
            </a:r>
            <a:endParaRPr lang="zh-CN" sz="1650" dirty="0">
              <a:solidFill>
                <a:srgbClr val="7868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sual-slide_16-2"/>
          <p:cNvSpPr/>
          <p:nvPr/>
        </p:nvSpPr>
        <p:spPr>
          <a:xfrm>
            <a:off x="762000" y="400050"/>
            <a:ext cx="47625" cy="457200"/>
          </a:xfrm>
          <a:prstGeom prst="rect">
            <a:avLst/>
          </a:prstGeom>
          <a:solidFill>
            <a:srgbClr val="BE6485"/>
          </a:solidFill>
          <a:ln>
            <a:noFill/>
          </a:ln>
        </p:spPr>
      </p:sp>
      <p:graphicFrame>
        <p:nvGraphicFramePr>
          <p:cNvPr id="3" name="p16-team-roles"/>
          <p:cNvGraphicFramePr>
            <a:graphicFrameLocks noGrp="1"/>
          </p:cNvGraphicFramePr>
          <p:nvPr/>
        </p:nvGraphicFramePr>
        <p:xfrm>
          <a:off x="762000" y="1809750"/>
          <a:ext cx="10668000" cy="421005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05001"/>
                <a:gridCol w="5905499"/>
                <a:gridCol w="2857500"/>
              </a:tblGrid>
              <a:tr h="400050">
                <a:tc>
                  <a:txBody>
                    <a:bodyPr/>
                    <a:lstStyle/>
                    <a:p>
                      <a:r>
                        <a:rPr lang="zh-CN" sz="158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成员 / 项目角色</a:t>
                      </a:r>
                      <a:endParaRPr lang="zh-CN" sz="158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9563" marB="59563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71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8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负责的详细开发部分</a:t>
                      </a:r>
                      <a:endParaRPr lang="zh-CN" sz="158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9563" marB="59563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71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58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主要产出</a:t>
                      </a:r>
                      <a:endParaRPr lang="zh-CN" sz="158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9563" marB="59563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71364F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lang="zh-CN" sz="1650" b="1">
                          <a:solidFill>
                            <a:srgbClr val="7136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程群
智能体 / AI工程</a:t>
                      </a:r>
                      <a:endParaRPr lang="zh-CN" sz="1650" b="1">
                        <a:solidFill>
                          <a:srgbClr val="7136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8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65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实现模型适配、陪伴/命名路由、物件整理与排练
开发固定训练；管理上下文/许可、超时取消与质量预算</a:t>
                      </a:r>
                      <a:endParaRPr lang="zh-CN" sz="165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65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AI模块、训练内容/控制
提示词/配置
质量评测与异常记录</a:t>
                      </a:r>
                      <a:endParaRPr lang="zh-CN" sz="165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lang="zh-CN" sz="1650" b="1">
                          <a:solidFill>
                            <a:srgbClr val="7136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庄剀涵
搜索 / 数据工程</a:t>
                      </a:r>
                      <a:endParaRPr lang="zh-CN" sz="1650" b="1">
                        <a:solidFill>
                          <a:srgbClr val="7136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8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65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实现PostgreSQL迁移/索引、保存/清除、日历与寄存
管理物件/排练数据、查询来源及生命周期，支持恢复</a:t>
                      </a:r>
                      <a:endParaRPr lang="zh-CN" sz="165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D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65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SQL/数据访问/检索代码
字典、来源数据、恢复验证</a:t>
                      </a:r>
                      <a:endParaRPr lang="zh-CN" sz="165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DF6F9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lang="zh-CN" sz="1650" b="1">
                          <a:solidFill>
                            <a:srgbClr val="7136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关欣
安全 / 内容审核</a:t>
                      </a:r>
                      <a:endParaRPr lang="zh-CN" sz="1650" b="1">
                        <a:solidFill>
                          <a:srgbClr val="7136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8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65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复核鉴权、归属/入口/用途权限、脱敏与安全配置
检查越权、会话失效、提示注入和销毁边界；复测修复</a:t>
                      </a:r>
                      <a:endParaRPr lang="zh-CN" sz="165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65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权限矩阵、安全用例/结果
内容规则、安全缺陷复核</a:t>
                      </a:r>
                      <a:endParaRPr lang="zh-CN" sz="165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lang="zh-CN" sz="1650" b="1">
                          <a:solidFill>
                            <a:srgbClr val="7136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曾俊涛
测试 / 运维</a:t>
                      </a:r>
                      <a:endParaRPr lang="zh-CN" sz="1650" b="1">
                        <a:solidFill>
                          <a:srgbClr val="71364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8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65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搭建构建/集成环境，执行基础版与17项需求回归
跟踪缺陷；验证性能/恢复/回退，负责打包部署与复现</a:t>
                      </a:r>
                      <a:endParaRPr lang="zh-CN" sz="165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D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650" b="0">
                          <a:solidFill>
                            <a:srgbClr val="352C3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测试报告、缺陷记录
发布包、部署与恢复
回退说明</a:t>
                      </a:r>
                      <a:endParaRPr lang="zh-CN" sz="1650" b="0">
                        <a:solidFill>
                          <a:srgbClr val="352C34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E9DCE3"/>
                      </a:solidFill>
                      <a:prstDash val="solid"/>
                    </a:lnL>
                    <a:lnR w="7620">
                      <a:solidFill>
                        <a:srgbClr val="E9DCE3"/>
                      </a:solidFill>
                      <a:prstDash val="solid"/>
                    </a:lnR>
                    <a:lnT w="7620">
                      <a:solidFill>
                        <a:srgbClr val="E9DCE3"/>
                      </a:solidFill>
                      <a:prstDash val="solid"/>
                    </a:lnT>
                    <a:lnB w="7620">
                      <a:solidFill>
                        <a:srgbClr val="E9DCE3"/>
                      </a:solidFill>
                      <a:prstDash val="solid"/>
                    </a:lnB>
                    <a:solidFill>
                      <a:srgbClr val="FDF6F9"/>
                    </a:solidFill>
                  </a:tcPr>
                </a:tc>
              </a:tr>
            </a:tbl>
          </a:graphicData>
        </a:graphic>
      </p:graphicFrame>
      <p:grpSp>
        <p:nvGrpSpPr>
          <p:cNvPr id="8" name="page-footer"/>
          <p:cNvGrpSpPr/>
          <p:nvPr/>
        </p:nvGrpSpPr>
        <p:grpSpPr>
          <a:xfrm>
            <a:off x="762000" y="6343650"/>
            <a:ext cx="10674096" cy="339471"/>
            <a:chOff x="762000" y="6343650"/>
            <a:chExt cx="10674096" cy="339471"/>
          </a:xfrm>
        </p:grpSpPr>
        <p:sp>
          <p:nvSpPr>
            <p:cNvPr id="5" name="Line 5"/>
            <p:cNvSpPr/>
            <p:nvPr/>
          </p:nvSpPr>
          <p:spPr>
            <a:xfrm>
              <a:off x="762000" y="63436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9DCE3"/>
              </a:solidFill>
            </a:ln>
          </p:spPr>
        </p:sp>
        <p:sp>
          <p:nvSpPr>
            <p:cNvPr id="7" name="visual-slide_16-37"/>
            <p:cNvSpPr/>
            <p:nvPr/>
          </p:nvSpPr>
          <p:spPr>
            <a:xfrm>
              <a:off x="10882694" y="6448425"/>
              <a:ext cx="5534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r"/>
              <a:r>
                <a:rPr lang="zh-CN" sz="1200" dirty="0">
                  <a:solidFill>
                    <a:srgbClr val="78687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23 / 24</a:t>
              </a:r>
              <a:endParaRPr lang="zh-CN" sz="1200" dirty="0">
                <a:solidFill>
                  <a:srgbClr val="786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9" name="visual-slide_16-38"/>
          <p:cNvSpPr txBox="1"/>
          <p:nvPr/>
        </p:nvSpPr>
        <p:spPr>
          <a:xfrm>
            <a:off x="956310" y="422275"/>
            <a:ext cx="606536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7136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开发分工｜AI、数据、安全与测试</a:t>
            </a:r>
            <a:endParaRPr lang="zh-CN" sz="3000" b="1" dirty="0">
              <a:solidFill>
                <a:srgbClr val="7136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visual-slide_16-39"/>
          <p:cNvSpPr txBox="1"/>
          <p:nvPr/>
        </p:nvSpPr>
        <p:spPr>
          <a:xfrm>
            <a:off x="753618" y="1311275"/>
            <a:ext cx="543656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786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11月中下旬共同冲刺：功能完善 → 全量复测 → 稳定交付</a:t>
            </a:r>
            <a:endParaRPr lang="zh-CN" sz="1650" dirty="0">
              <a:solidFill>
                <a:srgbClr val="7868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review-accent"/>
          <p:cNvGrpSpPr/>
          <p:nvPr/>
        </p:nvGrpSpPr>
        <p:grpSpPr>
          <a:xfrm>
            <a:off x="762000" y="400050"/>
            <a:ext cx="47625" cy="457200"/>
            <a:chOff x="762000" y="400050"/>
            <a:chExt cx="47625" cy="457200"/>
          </a:xfrm>
        </p:grpSpPr>
        <p:sp>
          <p:nvSpPr>
            <p:cNvPr id="2" name="review-visual-68"/>
            <p:cNvSpPr/>
            <p:nvPr/>
          </p:nvSpPr>
          <p:spPr>
            <a:xfrm>
              <a:off x="762000" y="400050"/>
              <a:ext cx="47625" cy="457200"/>
            </a:xfrm>
            <a:prstGeom prst="rect">
              <a:avLst/>
            </a:prstGeom>
            <a:solidFill>
              <a:srgbClr val="BE6485"/>
            </a:solidFill>
            <a:ln>
              <a:noFill/>
            </a:ln>
          </p:spPr>
        </p:sp>
      </p:grpSp>
      <p:grpSp>
        <p:nvGrpSpPr>
          <p:cNvPr id="5" name="review-title"/>
          <p:cNvGrpSpPr/>
          <p:nvPr/>
        </p:nvGrpSpPr>
        <p:grpSpPr>
          <a:xfrm>
            <a:off x="956691" y="444500"/>
            <a:ext cx="2842614" cy="572072"/>
            <a:chOff x="956691" y="444500"/>
            <a:chExt cx="2842614" cy="572072"/>
          </a:xfrm>
        </p:grpSpPr>
        <p:sp>
          <p:nvSpPr>
            <p:cNvPr id="4" name="review-visual-69"/>
            <p:cNvSpPr txBox="1"/>
            <p:nvPr/>
          </p:nvSpPr>
          <p:spPr>
            <a:xfrm>
              <a:off x="956691" y="444500"/>
              <a:ext cx="2842614" cy="572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920" b="1" dirty="0">
                  <a:solidFill>
                    <a:srgbClr val="71364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404NOTFOUND</a:t>
              </a:r>
              <a:endParaRPr lang="en-US" sz="2920" b="1" dirty="0">
                <a:solidFill>
                  <a:srgbClr val="7136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9" name="thanks-content"/>
          <p:cNvGrpSpPr/>
          <p:nvPr/>
        </p:nvGrpSpPr>
        <p:grpSpPr>
          <a:xfrm>
            <a:off x="3661410" y="2311400"/>
            <a:ext cx="4869180" cy="2777300"/>
            <a:chOff x="3661410" y="2311400"/>
            <a:chExt cx="4869180" cy="2777300"/>
          </a:xfrm>
        </p:grpSpPr>
        <p:sp>
          <p:nvSpPr>
            <p:cNvPr id="6" name="review-visual-70"/>
            <p:cNvSpPr txBox="1"/>
            <p:nvPr/>
          </p:nvSpPr>
          <p:spPr>
            <a:xfrm>
              <a:off x="4703826" y="2311400"/>
              <a:ext cx="2784348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100" b="1" dirty="0">
                  <a:solidFill>
                    <a:srgbClr val="71364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感谢聆听</a:t>
              </a:r>
              <a:endParaRPr lang="zh-CN" sz="5100" b="1" dirty="0">
                <a:solidFill>
                  <a:srgbClr val="7136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" name="review-visual-71"/>
            <p:cNvSpPr txBox="1"/>
            <p:nvPr/>
          </p:nvSpPr>
          <p:spPr>
            <a:xfrm>
              <a:off x="3661410" y="3482975"/>
              <a:ext cx="486918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352C34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恳请各位老师、助教和同学批评指正</a:t>
              </a:r>
              <a:endParaRPr lang="zh-CN" sz="2250" dirty="0">
                <a:solidFill>
                  <a:srgbClr val="352C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" name="review-visual-72"/>
            <p:cNvSpPr txBox="1"/>
            <p:nvPr/>
          </p:nvSpPr>
          <p:spPr>
            <a:xfrm>
              <a:off x="5181538" y="4692650"/>
              <a:ext cx="182892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dirty="0">
                  <a:solidFill>
                    <a:srgbClr val="78687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404烦恼未找到</a:t>
              </a:r>
              <a:endParaRPr lang="zh-CN" sz="2020" dirty="0">
                <a:solidFill>
                  <a:srgbClr val="786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2" name="review-footer"/>
          <p:cNvGrpSpPr/>
          <p:nvPr/>
        </p:nvGrpSpPr>
        <p:grpSpPr>
          <a:xfrm>
            <a:off x="762000" y="6343650"/>
            <a:ext cx="10674096" cy="339471"/>
            <a:chOff x="762000" y="6343650"/>
            <a:chExt cx="10674096" cy="339471"/>
          </a:xfrm>
        </p:grpSpPr>
        <p:sp>
          <p:nvSpPr>
            <p:cNvPr id="10" name="Line 10"/>
            <p:cNvSpPr/>
            <p:nvPr/>
          </p:nvSpPr>
          <p:spPr>
            <a:xfrm>
              <a:off x="762000" y="63436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9DCE3"/>
              </a:solidFill>
            </a:ln>
          </p:spPr>
        </p:sp>
        <p:sp>
          <p:nvSpPr>
            <p:cNvPr id="11" name="review-visual-74"/>
            <p:cNvSpPr txBox="1"/>
            <p:nvPr/>
          </p:nvSpPr>
          <p:spPr>
            <a:xfrm>
              <a:off x="10882732" y="644842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8687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24 / 24</a:t>
              </a:r>
              <a:endParaRPr lang="zh-CN" sz="1200" dirty="0">
                <a:solidFill>
                  <a:srgbClr val="7868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82.01999999999998,&quot;left&quot;:59.129999999999995,&quot;top&quot;:228.75,&quot;width&quot;:827.8}"/>
</p:tagLst>
</file>

<file path=ppt/tags/tag2.xml><?xml version="1.0" encoding="utf-8"?>
<p:tagLst xmlns:p="http://schemas.openxmlformats.org/presentationml/2006/main">
  <p:tag name="KSO_WM_DIAGRAM_VIRTUALLY_FRAME" val="{&quot;height&quot;:182.01999999999998,&quot;left&quot;:59.129999999999995,&quot;top&quot;:228.75,&quot;width&quot;:827.8}"/>
</p:tagLst>
</file>

<file path=ppt/tags/tag3.xml><?xml version="1.0" encoding="utf-8"?>
<p:tagLst xmlns:p="http://schemas.openxmlformats.org/presentationml/2006/main">
  <p:tag name="KSO_WM_DIAGRAM_VIRTUALLY_FRAME" val="{&quot;height&quot;:182.01999999999998,&quot;left&quot;:59.129999999999995,&quot;top&quot;:228.75,&quot;width&quot;:827.8}"/>
</p:tagLst>
</file>

<file path=ppt/tags/tag4.xml><?xml version="1.0" encoding="utf-8"?>
<p:tagLst xmlns:p="http://schemas.openxmlformats.org/presentationml/2006/main">
  <p:tag name="KSO_WM_DIAGRAM_VIRTUALLY_FRAME" val="{&quot;height&quot;:182.01999999999998,&quot;left&quot;:59.129999999999995,&quot;top&quot;:228.75,&quot;width&quot;:827.8}"/>
</p:tagLst>
</file>

<file path=ppt/tags/tag5.xml><?xml version="1.0" encoding="utf-8"?>
<p:tagLst xmlns:p="http://schemas.openxmlformats.org/presentationml/2006/main">
  <p:tag name="KSO_WM_DIAGRAM_VIRTUALLY_FRAME" val="{&quot;height&quot;:182.01999999999998,&quot;left&quot;:59.129999999999995,&quot;top&quot;:228.75,&quot;width&quot;:827.8}"/>
</p:tagLst>
</file>

<file path=ppt/tags/tag6.xml><?xml version="1.0" encoding="utf-8"?>
<p:tagLst xmlns:p="http://schemas.openxmlformats.org/presentationml/2006/main">
  <p:tag name="KSO_WM_DIAGRAM_VIRTUALLY_FRAME" val="{&quot;height&quot;:182.01999999999998,&quot;left&quot;:59.129999999999995,&quot;top&quot;:228.75,&quot;width&quot;:827.8}"/>
</p:tagLst>
</file>

<file path=ppt/tags/tag7.xml><?xml version="1.0" encoding="utf-8"?>
<p:tagLst xmlns:p="http://schemas.openxmlformats.org/presentationml/2006/main">
  <p:tag name="KSO_WM_DIAGRAM_VIRTUALLY_FRAME" val="{&quot;height&quot;:182.01999999999998,&quot;left&quot;:59.129999999999995,&quot;top&quot;:228.75,&quot;width&quot;:827.8}"/>
</p:tagLst>
</file>

<file path=ppt/tags/tag8.xml><?xml version="1.0" encoding="utf-8"?>
<p:tagLst xmlns:p="http://schemas.openxmlformats.org/presentationml/2006/main">
  <p:tag name="KSO_WM_DIAGRAM_VIRTUALLY_FRAME" val="{&quot;height&quot;:182.01999999999998,&quot;left&quot;:59.129999999999995,&quot;top&quot;:228.75,&quot;width&quot;:827.8}"/>
</p:tagLst>
</file>

<file path=ppt/tags/tag9.xml><?xml version="1.0" encoding="utf-8"?>
<p:tagLst xmlns:p="http://schemas.openxmlformats.org/presentationml/2006/main">
  <p:tag name="KSO_WM_DIAGRAM_VIRTUALLY_FRAME" val="{&quot;height&quot;:182.01999999999998,&quot;left&quot;:59.129999999999995,&quot;top&quot;:228.75,&quot;width&quot;:827.8}"/>
</p:tagLst>
</file>

<file path=ppt/theme/theme1.xml><?xml version="1.0" encoding="utf-8"?>
<a:theme xmlns:a="http://schemas.openxmlformats.org/drawingml/2006/main" name="404NOTFOUND_系统与数据库设计答辩">
  <a:themeElements>
    <a:clrScheme name="404NOTFOUND_系统与数据库设计答辩">
      <a:dk1>
        <a:srgbClr val="342B33"/>
      </a:dk1>
      <a:lt1>
        <a:srgbClr val="FFFFFF"/>
      </a:lt1>
      <a:dk2>
        <a:srgbClr val="1F497D"/>
      </a:dk2>
      <a:lt2>
        <a:srgbClr val="FFFFFF"/>
      </a:lt2>
      <a:accent1>
        <a:srgbClr val="C86B8C"/>
      </a:accent1>
      <a:accent2>
        <a:srgbClr val="984762"/>
      </a:accent2>
      <a:accent3>
        <a:srgbClr val="984762"/>
      </a:accent3>
      <a:accent4>
        <a:srgbClr val="C86B8C"/>
      </a:accent4>
      <a:accent5>
        <a:srgbClr val="71616B"/>
      </a:accent5>
      <a:accent6>
        <a:srgbClr val="E6E1E5"/>
      </a:accent6>
      <a:hlink>
        <a:srgbClr val="984762"/>
      </a:hlink>
      <a:folHlink>
        <a:srgbClr val="984762"/>
      </a:folHlink>
    </a:clrScheme>
    <a:fontScheme name="404NOTFOUND_系统与数据库设计答辩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404NOTFOUND_系统与数据库设计答辩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04NOTFOUND_系统与数据库设计答辩">
  <a:themeElements>
    <a:clrScheme name="404NOTFOUND_系统与数据库设计答辩">
      <a:dk1>
        <a:srgbClr val="342B33"/>
      </a:dk1>
      <a:lt1>
        <a:srgbClr val="FFFFFF"/>
      </a:lt1>
      <a:dk2>
        <a:srgbClr val="1F497D"/>
      </a:dk2>
      <a:lt2>
        <a:srgbClr val="FFFFFF"/>
      </a:lt2>
      <a:accent1>
        <a:srgbClr val="C86B8C"/>
      </a:accent1>
      <a:accent2>
        <a:srgbClr val="984762"/>
      </a:accent2>
      <a:accent3>
        <a:srgbClr val="984762"/>
      </a:accent3>
      <a:accent4>
        <a:srgbClr val="C86B8C"/>
      </a:accent4>
      <a:accent5>
        <a:srgbClr val="71616B"/>
      </a:accent5>
      <a:accent6>
        <a:srgbClr val="E6E1E5"/>
      </a:accent6>
      <a:hlink>
        <a:srgbClr val="984762"/>
      </a:hlink>
      <a:folHlink>
        <a:srgbClr val="984762"/>
      </a:folHlink>
    </a:clrScheme>
    <a:fontScheme name="404NOTFOUND_系统与数据库设计答辩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404NOTFOUND_系统与数据库设计答辩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5638</Words>
  <Application>WPS 演示</Application>
  <PresentationFormat>宽屏</PresentationFormat>
  <Paragraphs>805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1" baseType="lpstr">
      <vt:lpstr>Arial</vt:lpstr>
      <vt:lpstr>宋体</vt:lpstr>
      <vt:lpstr>Wingdings</vt:lpstr>
      <vt:lpstr>Arial</vt:lpstr>
      <vt:lpstr>微软雅黑</vt:lpstr>
      <vt:lpstr>Arial Unicode MS</vt:lpstr>
      <vt:lpstr>404NOTFOUND_系统与数据库设计答辩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程群</cp:lastModifiedBy>
  <cp:revision>8</cp:revision>
  <dcterms:created xsi:type="dcterms:W3CDTF">2026-10-22T08:38:00Z</dcterms:created>
  <dcterms:modified xsi:type="dcterms:W3CDTF">2026-10-22T12:16:12Z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2052-12.1.0.28022</vt:lpwstr>
  </property>
  <property fmtid="{D5CDD505-2E9C-101B-9397-08002B2CF9AE}" pid="3" name="ICV">
    <vt:lpwstr>F8C67C5761B34BAE97C9678A08CC5447_13</vt:lpwstr>
  </property>
</Properties>
</file>